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7.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6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image" Target="../media/image8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7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89.png"/><Relationship Id="rId10" Type="http://schemas.openxmlformats.org/officeDocument/2006/relationships/image" Target="../media/image90.png"/><Relationship Id="rId11" Type="http://schemas.openxmlformats.org/officeDocument/2006/relationships/image" Target="../media/image9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9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93.png"/><Relationship Id="rId10" Type="http://schemas.openxmlformats.org/officeDocument/2006/relationships/image" Target="../media/image94.png"/><Relationship Id="rId11" Type="http://schemas.openxmlformats.org/officeDocument/2006/relationships/image" Target="../media/image9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10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3962400" y="1571625"/>
            <a:ext cx="4267200" cy="390525"/>
          </a:xfrm>
          <a:prstGeom prst="rect">
            <a:avLst/>
          </a:prstGeom>
        </p:spPr>
      </p:pic>
      <p:pic>
        <p:nvPicPr>
          <p:cNvPr id="4" name="Picture 3" descr="image.png"/>
          <p:cNvPicPr>
            <a:picLocks noChangeAspect="1"/>
          </p:cNvPicPr>
          <p:nvPr/>
        </p:nvPicPr>
        <p:blipFill>
          <a:blip r:embed="rId4"/>
          <a:stretch>
            <a:fillRect/>
          </a:stretch>
        </p:blipFill>
        <p:spPr>
          <a:xfrm>
            <a:off x="2143125" y="4505325"/>
            <a:ext cx="7905750" cy="781050"/>
          </a:xfrm>
          <a:prstGeom prst="rect">
            <a:avLst/>
          </a:prstGeom>
        </p:spPr>
      </p:pic>
      <p:sp>
        <p:nvSpPr>
          <p:cNvPr id="5" name="TextBox 4"/>
          <p:cNvSpPr txBox="1"/>
          <p:nvPr/>
        </p:nvSpPr>
        <p:spPr>
          <a:xfrm>
            <a:off x="595312" y="2200275"/>
            <a:ext cx="11001375" cy="1190625"/>
          </a:xfrm>
          <a:prstGeom prst="rect">
            <a:avLst/>
          </a:prstGeom>
          <a:noFill/>
        </p:spPr>
        <p:txBody>
          <a:bodyPr wrap="square" lIns="0" rIns="0" tIns="0" bIns="0" anchor="t">
            <a:spAutoFit/>
          </a:bodyPr>
          <a:lstStyle/>
          <a:p>
            <a:pPr algn="ctr">
              <a:lnSpc>
                <a:spcPts val="4687"/>
              </a:lnSpc>
              <a:defRPr/>
            </a:pPr>
            <a:r>
              <a:rPr b="0" sz="3750" i="0" u="none">
                <a:solidFill>
                  <a:srgbClr val="FFFFFF"/>
                </a:solidFill>
                <a:latin typeface="Urbanist ExtraBold"/>
              </a:rPr>
              <a:t>Xây Dựng Hệ Thống Quản Lý Sự Kiện &amp; Tự Động Hóa Duyệt Minh Chứng Điểm Rèn Luyện</a:t>
            </a:r>
          </a:p>
        </p:txBody>
      </p:sp>
      <p:sp>
        <p:nvSpPr>
          <p:cNvPr id="6" name="TextBox 5"/>
          <p:cNvSpPr txBox="1"/>
          <p:nvPr/>
        </p:nvSpPr>
        <p:spPr>
          <a:xfrm>
            <a:off x="1809750" y="3581400"/>
            <a:ext cx="8572500" cy="590550"/>
          </a:xfrm>
          <a:prstGeom prst="rect">
            <a:avLst/>
          </a:prstGeom>
          <a:noFill/>
        </p:spPr>
        <p:txBody>
          <a:bodyPr wrap="square" lIns="0" rIns="0" tIns="0" bIns="0" anchor="t">
            <a:spAutoFit/>
          </a:bodyPr>
          <a:lstStyle/>
          <a:p>
            <a:pPr algn="ctr">
              <a:lnSpc>
                <a:spcPts val="2325"/>
              </a:lnSpc>
            </a:pPr>
            <a:r>
              <a:rPr b="0" sz="1500" i="0" u="none">
                <a:solidFill>
                  <a:srgbClr val="CBD5E1"/>
                </a:solidFill>
                <a:latin typeface="Inter"/>
              </a:rPr>
              <a:t>Ứng dụng Trí tuệ Nhân tạo (AI) và Kiến trúc Microservices giải quyết triệt để bài toán gian lận điểm danh &amp; quá tải thẩm định minh chứng.</a:t>
            </a:r>
          </a:p>
        </p:txBody>
      </p:sp>
      <p:pic>
        <p:nvPicPr>
          <p:cNvPr id="7" name="Picture 6" descr="image.png"/>
          <p:cNvPicPr>
            <a:picLocks noChangeAspect="1"/>
          </p:cNvPicPr>
          <p:nvPr/>
        </p:nvPicPr>
        <p:blipFill>
          <a:blip r:embed="rId5"/>
          <a:stretch>
            <a:fillRect/>
          </a:stretch>
        </p:blipFill>
        <p:spPr>
          <a:xfrm>
            <a:off x="4219575" y="1695450"/>
            <a:ext cx="200025" cy="142875"/>
          </a:xfrm>
          <a:prstGeom prst="rect">
            <a:avLst/>
          </a:prstGeom>
        </p:spPr>
      </p:pic>
      <p:sp>
        <p:nvSpPr>
          <p:cNvPr id="8" name="TextBox 7"/>
          <p:cNvSpPr txBox="1"/>
          <p:nvPr/>
        </p:nvSpPr>
        <p:spPr>
          <a:xfrm>
            <a:off x="2533650" y="4705350"/>
            <a:ext cx="1714500" cy="381000"/>
          </a:xfrm>
          <a:prstGeom prst="rect">
            <a:avLst/>
          </a:prstGeom>
          <a:noFill/>
        </p:spPr>
        <p:txBody>
          <a:bodyPr wrap="square" lIns="0" rIns="0" tIns="0" bIns="0" anchor="t">
            <a:spAutoFit/>
          </a:bodyPr>
          <a:lstStyle/>
          <a:p>
            <a:pPr algn="l"/>
            <a:r>
              <a:rPr b="1" sz="1200" i="0" u="none">
                <a:solidFill>
                  <a:srgbClr val="93C5FD"/>
                </a:solidFill>
                <a:latin typeface="Inter"/>
              </a:rPr>
              <a:t>Giảng viên hướng dẫn</a:t>
            </a:r>
            <a:r>
              <a:rPr b="0" sz="1200" i="0" u="none">
                <a:solidFill>
                  <a:srgbClr val="FFFFFF"/>
                </a:solidFill>
                <a:latin typeface="Inter"/>
              </a:rPr>
              <a:t> </a:t>
            </a:r>
            <a:r>
              <a:rPr b="0" sz="1200" i="0" u="none">
                <a:solidFill>
                  <a:srgbClr val="FFFFFF"/>
                </a:solidFill>
                <a:latin typeface="Inter SemiBold"/>
              </a:rPr>
              <a:t>ThS. Nguyễn Thúy Anh</a:t>
            </a:r>
          </a:p>
        </p:txBody>
      </p:sp>
      <p:sp>
        <p:nvSpPr>
          <p:cNvPr id="9" name="TextBox 8"/>
          <p:cNvSpPr txBox="1"/>
          <p:nvPr/>
        </p:nvSpPr>
        <p:spPr>
          <a:xfrm>
            <a:off x="4724400" y="4705350"/>
            <a:ext cx="2495550" cy="381000"/>
          </a:xfrm>
          <a:prstGeom prst="rect">
            <a:avLst/>
          </a:prstGeom>
          <a:noFill/>
        </p:spPr>
        <p:txBody>
          <a:bodyPr wrap="square" lIns="0" rIns="0" tIns="0" bIns="0" anchor="t">
            <a:spAutoFit/>
          </a:bodyPr>
          <a:lstStyle/>
          <a:p>
            <a:pPr algn="l"/>
            <a:r>
              <a:rPr b="1" sz="1200" i="0" u="none">
                <a:solidFill>
                  <a:srgbClr val="93C5FD"/>
                </a:solidFill>
                <a:latin typeface="Inter"/>
              </a:rPr>
              <a:t>Sinh viên thực hiện</a:t>
            </a:r>
            <a:r>
              <a:rPr b="0" sz="1200" i="0" u="none">
                <a:solidFill>
                  <a:srgbClr val="FFFFFF"/>
                </a:solidFill>
                <a:latin typeface="Inter"/>
              </a:rPr>
              <a:t> </a:t>
            </a:r>
            <a:r>
              <a:rPr b="0" sz="1200" i="0" u="none">
                <a:solidFill>
                  <a:srgbClr val="FFFFFF"/>
                </a:solidFill>
                <a:latin typeface="Inter SemiBold"/>
              </a:rPr>
              <a:t>Anh Tuấn | Nhật Đông | Quang Hà</a:t>
            </a:r>
          </a:p>
        </p:txBody>
      </p:sp>
      <p:sp>
        <p:nvSpPr>
          <p:cNvPr id="10" name="TextBox 9"/>
          <p:cNvSpPr txBox="1"/>
          <p:nvPr/>
        </p:nvSpPr>
        <p:spPr>
          <a:xfrm>
            <a:off x="7696200" y="4705350"/>
            <a:ext cx="1962150" cy="381000"/>
          </a:xfrm>
          <a:prstGeom prst="rect">
            <a:avLst/>
          </a:prstGeom>
          <a:noFill/>
        </p:spPr>
        <p:txBody>
          <a:bodyPr wrap="square" lIns="0" rIns="0" tIns="0" bIns="0" anchor="t">
            <a:spAutoFit/>
          </a:bodyPr>
          <a:lstStyle/>
          <a:p>
            <a:pPr algn="l"/>
            <a:r>
              <a:rPr b="1" sz="1200" i="0" u="none">
                <a:solidFill>
                  <a:srgbClr val="93C5FD"/>
                </a:solidFill>
                <a:latin typeface="Inter"/>
              </a:rPr>
              <a:t>Chuyên ngành</a:t>
            </a:r>
            <a:r>
              <a:rPr b="0" sz="1200" i="0" u="none">
                <a:solidFill>
                  <a:srgbClr val="FFFFFF"/>
                </a:solidFill>
                <a:latin typeface="Inter"/>
              </a:rPr>
              <a:t> </a:t>
            </a:r>
            <a:r>
              <a:rPr b="0" sz="1200" i="0" u="none">
                <a:solidFill>
                  <a:srgbClr val="FFFFFF"/>
                </a:solidFill>
                <a:latin typeface="Inter SemiBold"/>
              </a:rPr>
              <a:t>Hệ thống Thông tin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355205"/>
            <a:ext cx="3517850" cy="2985641"/>
          </a:xfrm>
          <a:prstGeom prst="rect">
            <a:avLst/>
          </a:prstGeom>
        </p:spPr>
      </p:pic>
      <p:pic>
        <p:nvPicPr>
          <p:cNvPr id="3" name="Picture 2" descr="image.png"/>
          <p:cNvPicPr>
            <a:picLocks noChangeAspect="1"/>
          </p:cNvPicPr>
          <p:nvPr/>
        </p:nvPicPr>
        <p:blipFill>
          <a:blip r:embed="rId3"/>
          <a:stretch>
            <a:fillRect/>
          </a:stretch>
        </p:blipFill>
        <p:spPr>
          <a:xfrm>
            <a:off x="4337000" y="2355205"/>
            <a:ext cx="3517850" cy="2985641"/>
          </a:xfrm>
          <a:prstGeom prst="rect">
            <a:avLst/>
          </a:prstGeom>
        </p:spPr>
      </p:pic>
      <p:pic>
        <p:nvPicPr>
          <p:cNvPr id="4" name="Picture 3" descr="image.png"/>
          <p:cNvPicPr>
            <a:picLocks noChangeAspect="1"/>
          </p:cNvPicPr>
          <p:nvPr/>
        </p:nvPicPr>
        <p:blipFill>
          <a:blip r:embed="rId4"/>
          <a:stretch>
            <a:fillRect/>
          </a:stretch>
        </p:blipFill>
        <p:spPr>
          <a:xfrm>
            <a:off x="8092975" y="2355205"/>
            <a:ext cx="3517850" cy="2985641"/>
          </a:xfrm>
          <a:prstGeom prst="rect">
            <a:avLst/>
          </a:prstGeom>
        </p:spPr>
      </p:pic>
      <p:pic>
        <p:nvPicPr>
          <p:cNvPr id="5" name="Picture 4" descr="image.png"/>
          <p:cNvPicPr>
            <a:picLocks noChangeAspect="1"/>
          </p:cNvPicPr>
          <p:nvPr/>
        </p:nvPicPr>
        <p:blipFill>
          <a:blip r:embed="rId5"/>
          <a:stretch>
            <a:fillRect/>
          </a:stretch>
        </p:blipFill>
        <p:spPr>
          <a:xfrm>
            <a:off x="581025" y="519112"/>
            <a:ext cx="342900" cy="342900"/>
          </a:xfrm>
          <a:prstGeom prst="rect">
            <a:avLst/>
          </a:prstGeom>
        </p:spPr>
      </p:pic>
      <p:pic>
        <p:nvPicPr>
          <p:cNvPr id="6" name="Picture 5" descr="image.png"/>
          <p:cNvPicPr>
            <a:picLocks noChangeAspect="1"/>
          </p:cNvPicPr>
          <p:nvPr/>
        </p:nvPicPr>
        <p:blipFill>
          <a:blip r:embed="rId6"/>
          <a:stretch>
            <a:fillRect/>
          </a:stretch>
        </p:blipFill>
        <p:spPr>
          <a:xfrm>
            <a:off x="828675" y="2650480"/>
            <a:ext cx="571500" cy="571500"/>
          </a:xfrm>
          <a:prstGeom prst="rect">
            <a:avLst/>
          </a:prstGeom>
        </p:spPr>
      </p:pic>
      <p:sp>
        <p:nvSpPr>
          <p:cNvPr id="7" name="TextBox 6"/>
          <p:cNvSpPr txBox="1"/>
          <p:nvPr/>
        </p:nvSpPr>
        <p:spPr>
          <a:xfrm>
            <a:off x="82867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1. Gian Lận Điểm Danh</a:t>
            </a:r>
          </a:p>
        </p:txBody>
      </p:sp>
      <p:sp>
        <p:nvSpPr>
          <p:cNvPr id="8" name="TextBox 7"/>
          <p:cNvSpPr txBox="1"/>
          <p:nvPr/>
        </p:nvSpPr>
        <p:spPr>
          <a:xfrm>
            <a:off x="82867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Sinh viên chụp lại mã QR tĩnh tại hội trường sự kiện, phát tán qua các nhóm chat Zalo/Messenger để điểm danh hộ từ xa, tạo ra số lượng người tham dự ảo.</a:t>
            </a:r>
          </a:p>
        </p:txBody>
      </p:sp>
      <p:pic>
        <p:nvPicPr>
          <p:cNvPr id="9" name="Picture 8" descr="image.png"/>
          <p:cNvPicPr>
            <a:picLocks noChangeAspect="1"/>
          </p:cNvPicPr>
          <p:nvPr/>
        </p:nvPicPr>
        <p:blipFill>
          <a:blip r:embed="rId7"/>
          <a:stretch>
            <a:fillRect/>
          </a:stretch>
        </p:blipFill>
        <p:spPr>
          <a:xfrm>
            <a:off x="4584650" y="2650480"/>
            <a:ext cx="571500" cy="571500"/>
          </a:xfrm>
          <a:prstGeom prst="rect">
            <a:avLst/>
          </a:prstGeom>
        </p:spPr>
      </p:pic>
      <p:sp>
        <p:nvSpPr>
          <p:cNvPr id="10" name="TextBox 9"/>
          <p:cNvSpPr txBox="1"/>
          <p:nvPr/>
        </p:nvSpPr>
        <p:spPr>
          <a:xfrm>
            <a:off x="4584650"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2. Chỉnh Sửa Minh Chứng</a:t>
            </a:r>
          </a:p>
        </p:txBody>
      </p:sp>
      <p:sp>
        <p:nvSpPr>
          <p:cNvPr id="11" name="TextBox 10"/>
          <p:cNvSpPr txBox="1"/>
          <p:nvPr/>
        </p:nvSpPr>
        <p:spPr>
          <a:xfrm>
            <a:off x="4584650"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Sinh viên dùng Photoshop, Canva sửa đổi MSSV/họ tên trên giấy chứng nhận hoặc tái sử dụng ảnh cũ. Ban cán sự quá tải khi rà soát thủ công hàng ngàn hồ sơ.</a:t>
            </a:r>
          </a:p>
        </p:txBody>
      </p:sp>
      <p:pic>
        <p:nvPicPr>
          <p:cNvPr id="12" name="Picture 11" descr="image.png"/>
          <p:cNvPicPr>
            <a:picLocks noChangeAspect="1"/>
          </p:cNvPicPr>
          <p:nvPr/>
        </p:nvPicPr>
        <p:blipFill>
          <a:blip r:embed="rId8"/>
          <a:stretch>
            <a:fillRect/>
          </a:stretch>
        </p:blipFill>
        <p:spPr>
          <a:xfrm>
            <a:off x="8340625" y="2650480"/>
            <a:ext cx="571500" cy="571500"/>
          </a:xfrm>
          <a:prstGeom prst="rect">
            <a:avLst/>
          </a:prstGeom>
        </p:spPr>
      </p:pic>
      <p:sp>
        <p:nvSpPr>
          <p:cNvPr id="13" name="TextBox 12"/>
          <p:cNvSpPr txBox="1"/>
          <p:nvPr/>
        </p:nvSpPr>
        <p:spPr>
          <a:xfrm>
            <a:off x="834062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3. Khóa Nhầm Chứng Chỉ Online</a:t>
            </a:r>
          </a:p>
        </p:txBody>
      </p:sp>
      <p:sp>
        <p:nvSpPr>
          <p:cNvPr id="14" name="TextBox 13"/>
          <p:cNvSpPr txBox="1"/>
          <p:nvPr/>
        </p:nvSpPr>
        <p:spPr>
          <a:xfrm>
            <a:off x="834062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Hàng trăm sinh viên cùng nhận chứng chỉ học trực tuyến (Coursera, Udemy) có thiết kế chung. Các bộ lọc trùng lặp đơn thuần chặn nhầm gây khiếu nại kéo dài.</a:t>
            </a:r>
          </a:p>
        </p:txBody>
      </p:sp>
      <p:pic>
        <p:nvPicPr>
          <p:cNvPr id="15" name="Picture 14" descr="image.png"/>
          <p:cNvPicPr>
            <a:picLocks noChangeAspect="1"/>
          </p:cNvPicPr>
          <p:nvPr/>
        </p:nvPicPr>
        <p:blipFill>
          <a:blip r:embed="rId9"/>
          <a:stretch>
            <a:fillRect/>
          </a:stretch>
        </p:blipFill>
        <p:spPr>
          <a:xfrm>
            <a:off x="990600" y="2793355"/>
            <a:ext cx="247650" cy="285750"/>
          </a:xfrm>
          <a:prstGeom prst="rect">
            <a:avLst/>
          </a:prstGeom>
        </p:spPr>
      </p:pic>
      <p:pic>
        <p:nvPicPr>
          <p:cNvPr id="16" name="Picture 15" descr="image.png"/>
          <p:cNvPicPr>
            <a:picLocks noChangeAspect="1"/>
          </p:cNvPicPr>
          <p:nvPr/>
        </p:nvPicPr>
        <p:blipFill>
          <a:blip r:embed="rId10"/>
          <a:stretch>
            <a:fillRect/>
          </a:stretch>
        </p:blipFill>
        <p:spPr>
          <a:xfrm>
            <a:off x="4760862" y="2793355"/>
            <a:ext cx="219075" cy="285750"/>
          </a:xfrm>
          <a:prstGeom prst="rect">
            <a:avLst/>
          </a:prstGeom>
        </p:spPr>
      </p:pic>
      <p:pic>
        <p:nvPicPr>
          <p:cNvPr id="17" name="Picture 16" descr="image.png"/>
          <p:cNvPicPr>
            <a:picLocks noChangeAspect="1"/>
          </p:cNvPicPr>
          <p:nvPr/>
        </p:nvPicPr>
        <p:blipFill>
          <a:blip r:embed="rId11"/>
          <a:stretch>
            <a:fillRect/>
          </a:stretch>
        </p:blipFill>
        <p:spPr>
          <a:xfrm>
            <a:off x="8502550" y="2793355"/>
            <a:ext cx="247650" cy="285750"/>
          </a:xfrm>
          <a:prstGeom prst="rect">
            <a:avLst/>
          </a:prstGeom>
        </p:spPr>
      </p:pic>
      <p:sp>
        <p:nvSpPr>
          <p:cNvPr id="18" name="TextBox 17"/>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Thực Trạng &amp; Lỗ Hổng Trong Quy Trình Quản Lý Thủ Công</a:t>
            </a:r>
          </a:p>
        </p:txBody>
      </p:sp>
      <p:sp>
        <p:nvSpPr>
          <p:cNvPr id="19" name="Rectangle 18"/>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133004"/>
            <a:ext cx="5348287" cy="3430190"/>
          </a:xfrm>
          <a:prstGeom prst="rect">
            <a:avLst/>
          </a:prstGeom>
        </p:spPr>
      </p:pic>
      <p:pic>
        <p:nvPicPr>
          <p:cNvPr id="3" name="Picture 2" descr="image.png"/>
          <p:cNvPicPr>
            <a:picLocks noChangeAspect="1"/>
          </p:cNvPicPr>
          <p:nvPr/>
        </p:nvPicPr>
        <p:blipFill>
          <a:blip r:embed="rId3"/>
          <a:stretch>
            <a:fillRect/>
          </a:stretch>
        </p:blipFill>
        <p:spPr>
          <a:xfrm>
            <a:off x="6262687" y="2133004"/>
            <a:ext cx="5348287" cy="3430190"/>
          </a:xfrm>
          <a:prstGeom prst="rect">
            <a:avLst/>
          </a:prstGeom>
        </p:spPr>
      </p:pic>
      <p:pic>
        <p:nvPicPr>
          <p:cNvPr id="4" name="Picture 3" descr="image.png"/>
          <p:cNvPicPr>
            <a:picLocks noChangeAspect="1"/>
          </p:cNvPicPr>
          <p:nvPr/>
        </p:nvPicPr>
        <p:blipFill>
          <a:blip r:embed="rId4"/>
          <a:stretch>
            <a:fillRect/>
          </a:stretch>
        </p:blipFill>
        <p:spPr>
          <a:xfrm>
            <a:off x="581025" y="519112"/>
            <a:ext cx="390525" cy="342900"/>
          </a:xfrm>
          <a:prstGeom prst="rect">
            <a:avLst/>
          </a:prstGeom>
        </p:spPr>
      </p:pic>
      <p:sp>
        <p:nvSpPr>
          <p:cNvPr id="5" name="TextBox 4"/>
          <p:cNvSpPr txBox="1"/>
          <p:nvPr/>
        </p:nvSpPr>
        <p:spPr>
          <a:xfrm>
            <a:off x="1152525" y="2428279"/>
            <a:ext cx="4705588" cy="257175"/>
          </a:xfrm>
          <a:prstGeom prst="rect">
            <a:avLst/>
          </a:prstGeom>
          <a:noFill/>
        </p:spPr>
        <p:txBody>
          <a:bodyPr wrap="square" lIns="0" rIns="0" tIns="0" bIns="0" anchor="ctr">
            <a:spAutoFit/>
          </a:bodyPr>
          <a:lstStyle/>
          <a:p>
            <a:pPr algn="l"/>
            <a:r>
              <a:rPr b="1" sz="1650" i="0" u="none">
                <a:solidFill>
                  <a:srgbClr val="0F172A"/>
                </a:solidFill>
                <a:latin typeface="Urbanist"/>
              </a:rPr>
              <a:t>Phân Hệ Sinh Viên (Mobile App)</a:t>
            </a:r>
          </a:p>
        </p:txBody>
      </p:sp>
      <p:sp>
        <p:nvSpPr>
          <p:cNvPr id="6" name="TextBox 5"/>
          <p:cNvSpPr txBox="1"/>
          <p:nvPr/>
        </p:nvSpPr>
        <p:spPr>
          <a:xfrm>
            <a:off x="876300" y="2799754"/>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Đăng nhập SSO:</a:t>
            </a:r>
            <a:r>
              <a:rPr b="0" sz="1350" i="0" u="none">
                <a:solidFill>
                  <a:srgbClr val="334155"/>
                </a:solidFill>
                <a:latin typeface="Inter"/>
              </a:rPr>
              <a:t> Xác thực an toàn qua tài khoản Google sinh viên miền trường.</a:t>
            </a:r>
          </a:p>
        </p:txBody>
      </p:sp>
      <p:sp>
        <p:nvSpPr>
          <p:cNvPr id="7" name="TextBox 6"/>
          <p:cNvSpPr txBox="1"/>
          <p:nvPr/>
        </p:nvSpPr>
        <p:spPr>
          <a:xfrm>
            <a:off x="876300" y="3445371"/>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Điểm danh QR Động &amp; GPS:</a:t>
            </a:r>
            <a:r>
              <a:rPr b="0" sz="1350" i="0" u="none">
                <a:solidFill>
                  <a:srgbClr val="334155"/>
                </a:solidFill>
                <a:latin typeface="Inter"/>
              </a:rPr>
              <a:t> Mã làm mới liên tục kẹp khóa tọa độ vị trí thực tế.</a:t>
            </a:r>
          </a:p>
        </p:txBody>
      </p:sp>
      <p:sp>
        <p:nvSpPr>
          <p:cNvPr id="8" name="TextBox 7"/>
          <p:cNvSpPr txBox="1"/>
          <p:nvPr/>
        </p:nvSpPr>
        <p:spPr>
          <a:xfrm>
            <a:off x="876300" y="4090987"/>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Lọc Ảnh Mờ Sobel:</a:t>
            </a:r>
            <a:r>
              <a:rPr b="0" sz="1350" i="0" u="none">
                <a:solidFill>
                  <a:srgbClr val="334155"/>
                </a:solidFill>
                <a:latin typeface="Inter"/>
              </a:rPr>
              <a:t> Tự động kiểm tra độ sắc nét ảnh chụp trước khi tải lên máy chủ.</a:t>
            </a:r>
          </a:p>
        </p:txBody>
      </p:sp>
      <p:sp>
        <p:nvSpPr>
          <p:cNvPr id="9" name="TextBox 8"/>
          <p:cNvSpPr txBox="1"/>
          <p:nvPr/>
        </p:nvSpPr>
        <p:spPr>
          <a:xfrm>
            <a:off x="876300" y="4736603"/>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Ví Điểm Trực Quan:</a:t>
            </a:r>
            <a:r>
              <a:rPr b="0" sz="1350" i="0" u="none">
                <a:solidFill>
                  <a:srgbClr val="334155"/>
                </a:solidFill>
                <a:latin typeface="Inter"/>
              </a:rPr>
              <a:t> Theo dõi tiến độ tích lũy 5 nhóm tiêu chí theo thời gian thực.</a:t>
            </a:r>
          </a:p>
        </p:txBody>
      </p:sp>
      <p:sp>
        <p:nvSpPr>
          <p:cNvPr id="10" name="TextBox 9"/>
          <p:cNvSpPr txBox="1"/>
          <p:nvPr/>
        </p:nvSpPr>
        <p:spPr>
          <a:xfrm>
            <a:off x="6910387" y="2428279"/>
            <a:ext cx="4625578" cy="257175"/>
          </a:xfrm>
          <a:prstGeom prst="rect">
            <a:avLst/>
          </a:prstGeom>
          <a:noFill/>
        </p:spPr>
        <p:txBody>
          <a:bodyPr wrap="square" lIns="0" rIns="0" tIns="0" bIns="0" anchor="ctr">
            <a:spAutoFit/>
          </a:bodyPr>
          <a:lstStyle/>
          <a:p>
            <a:pPr algn="l"/>
            <a:r>
              <a:rPr b="1" sz="1650" i="0" u="none">
                <a:solidFill>
                  <a:srgbClr val="0F172A"/>
                </a:solidFill>
                <a:latin typeface="Urbanist"/>
              </a:rPr>
              <a:t>Phân Hệ Quản Trị (Web Admin)</a:t>
            </a:r>
          </a:p>
        </p:txBody>
      </p:sp>
      <p:sp>
        <p:nvSpPr>
          <p:cNvPr id="11" name="TextBox 10"/>
          <p:cNvSpPr txBox="1"/>
          <p:nvPr/>
        </p:nvSpPr>
        <p:spPr>
          <a:xfrm>
            <a:off x="6557962" y="2799754"/>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Cấu Hình Sự Kiện Chuyên Sâu:</a:t>
            </a:r>
            <a:r>
              <a:rPr b="0" sz="1350" i="0" u="none">
                <a:solidFill>
                  <a:srgbClr val="334155"/>
                </a:solidFill>
                <a:latin typeface="Inter"/>
              </a:rPr>
              <a:t> Khởi tạo hạn ngạch ngành học, gắn vị trí mẫu GPS.</a:t>
            </a:r>
          </a:p>
        </p:txBody>
      </p:sp>
      <p:sp>
        <p:nvSpPr>
          <p:cNvPr id="12" name="TextBox 11"/>
          <p:cNvSpPr txBox="1"/>
          <p:nvPr/>
        </p:nvSpPr>
        <p:spPr>
          <a:xfrm>
            <a:off x="6557962" y="3445371"/>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Bảng Điều Khiển Real-time:</a:t>
            </a:r>
            <a:r>
              <a:rPr b="0" sz="1350" i="0" u="none">
                <a:solidFill>
                  <a:srgbClr val="334155"/>
                </a:solidFill>
                <a:latin typeface="Inter"/>
              </a:rPr>
              <a:t> Biểu đồ thống kê sĩ số, sự kiện và hàng chờ kiểm duyệt.</a:t>
            </a:r>
          </a:p>
        </p:txBody>
      </p:sp>
      <p:sp>
        <p:nvSpPr>
          <p:cNvPr id="13" name="TextBox 12"/>
          <p:cNvSpPr txBox="1"/>
          <p:nvPr/>
        </p:nvSpPr>
        <p:spPr>
          <a:xfrm>
            <a:off x="6557962" y="4090987"/>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Thẩm Định 1-Chạm:</a:t>
            </a:r>
            <a:r>
              <a:rPr b="0" sz="1350" i="0" u="none">
                <a:solidFill>
                  <a:srgbClr val="334155"/>
                </a:solidFill>
                <a:latin typeface="Inter"/>
              </a:rPr>
              <a:t> Nhãn phân loại AI (Xanh, Vàng, Đỏ) giúp duyệt nhanh 80% hồ sơ.</a:t>
            </a:r>
          </a:p>
        </p:txBody>
      </p:sp>
      <p:sp>
        <p:nvSpPr>
          <p:cNvPr id="14" name="TextBox 13"/>
          <p:cNvSpPr txBox="1"/>
          <p:nvPr/>
        </p:nvSpPr>
        <p:spPr>
          <a:xfrm>
            <a:off x="6557962" y="4736603"/>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Phân Quyền RBAC:</a:t>
            </a:r>
            <a:r>
              <a:rPr b="0" sz="1350" i="0" u="none">
                <a:solidFill>
                  <a:srgbClr val="334155"/>
                </a:solidFill>
                <a:latin typeface="Inter"/>
              </a:rPr>
              <a:t> Cấp quyền linh hoạt cho Ban cán sự lớp duyệt chi đoàn.</a:t>
            </a:r>
          </a:p>
        </p:txBody>
      </p:sp>
      <p:pic>
        <p:nvPicPr>
          <p:cNvPr id="15" name="Picture 14" descr="image.png"/>
          <p:cNvPicPr>
            <a:picLocks noChangeAspect="1"/>
          </p:cNvPicPr>
          <p:nvPr/>
        </p:nvPicPr>
        <p:blipFill>
          <a:blip r:embed="rId5"/>
          <a:stretch>
            <a:fillRect/>
          </a:stretch>
        </p:blipFill>
        <p:spPr>
          <a:xfrm>
            <a:off x="876300" y="2452092"/>
            <a:ext cx="161925" cy="209550"/>
          </a:xfrm>
          <a:prstGeom prst="rect">
            <a:avLst/>
          </a:prstGeom>
        </p:spPr>
      </p:pic>
      <p:pic>
        <p:nvPicPr>
          <p:cNvPr id="16" name="Picture 15" descr="image.png"/>
          <p:cNvPicPr>
            <a:picLocks noChangeAspect="1"/>
          </p:cNvPicPr>
          <p:nvPr/>
        </p:nvPicPr>
        <p:blipFill>
          <a:blip r:embed="rId6"/>
          <a:stretch>
            <a:fillRect/>
          </a:stretch>
        </p:blipFill>
        <p:spPr>
          <a:xfrm>
            <a:off x="6557962" y="2452092"/>
            <a:ext cx="238125" cy="209550"/>
          </a:xfrm>
          <a:prstGeom prst="rect">
            <a:avLst/>
          </a:prstGeom>
        </p:spPr>
      </p:pic>
      <p:sp>
        <p:nvSpPr>
          <p:cNvPr id="17" name="TextBox 16"/>
          <p:cNvSpPr txBox="1"/>
          <p:nvPr/>
        </p:nvSpPr>
        <p:spPr>
          <a:xfrm>
            <a:off x="1114425" y="485775"/>
            <a:ext cx="11021377" cy="438150"/>
          </a:xfrm>
          <a:prstGeom prst="rect">
            <a:avLst/>
          </a:prstGeom>
          <a:noFill/>
        </p:spPr>
        <p:txBody>
          <a:bodyPr wrap="square" lIns="0" rIns="0" tIns="0" bIns="0" anchor="ctr">
            <a:spAutoFit/>
          </a:bodyPr>
          <a:lstStyle/>
          <a:p>
            <a:pPr algn="l"/>
            <a:r>
              <a:rPr b="1" sz="2700" i="0" u="none">
                <a:solidFill>
                  <a:srgbClr val="0F172A"/>
                </a:solidFill>
                <a:latin typeface="Urbanist"/>
              </a:rPr>
              <a:t>Hệ Sinh Thái Giải Pháp Kép Đồng Bộ</a:t>
            </a:r>
          </a:p>
        </p:txBody>
      </p:sp>
      <p:sp>
        <p:nvSpPr>
          <p:cNvPr id="18" name="Rectangle 17"/>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1975246"/>
            <a:ext cx="2578893" cy="3745557"/>
          </a:xfrm>
          <a:prstGeom prst="rect">
            <a:avLst/>
          </a:prstGeom>
        </p:spPr>
      </p:pic>
      <p:pic>
        <p:nvPicPr>
          <p:cNvPr id="3" name="Picture 2" descr="image.png"/>
          <p:cNvPicPr>
            <a:picLocks noChangeAspect="1"/>
          </p:cNvPicPr>
          <p:nvPr/>
        </p:nvPicPr>
        <p:blipFill>
          <a:blip r:embed="rId3"/>
          <a:stretch>
            <a:fillRect/>
          </a:stretch>
        </p:blipFill>
        <p:spPr>
          <a:xfrm>
            <a:off x="3398043" y="1975246"/>
            <a:ext cx="2578893" cy="3745557"/>
          </a:xfrm>
          <a:prstGeom prst="rect">
            <a:avLst/>
          </a:prstGeom>
        </p:spPr>
      </p:pic>
      <p:pic>
        <p:nvPicPr>
          <p:cNvPr id="4" name="Picture 3" descr="image.png"/>
          <p:cNvPicPr>
            <a:picLocks noChangeAspect="1"/>
          </p:cNvPicPr>
          <p:nvPr/>
        </p:nvPicPr>
        <p:blipFill>
          <a:blip r:embed="rId4"/>
          <a:stretch>
            <a:fillRect/>
          </a:stretch>
        </p:blipFill>
        <p:spPr>
          <a:xfrm>
            <a:off x="6215062" y="1975246"/>
            <a:ext cx="2578893" cy="3745557"/>
          </a:xfrm>
          <a:prstGeom prst="rect">
            <a:avLst/>
          </a:prstGeom>
        </p:spPr>
      </p:pic>
      <p:pic>
        <p:nvPicPr>
          <p:cNvPr id="5" name="Picture 4" descr="image.png"/>
          <p:cNvPicPr>
            <a:picLocks noChangeAspect="1"/>
          </p:cNvPicPr>
          <p:nvPr/>
        </p:nvPicPr>
        <p:blipFill>
          <a:blip r:embed="rId5"/>
          <a:stretch>
            <a:fillRect/>
          </a:stretch>
        </p:blipFill>
        <p:spPr>
          <a:xfrm>
            <a:off x="9032081" y="1975246"/>
            <a:ext cx="2578893" cy="3745557"/>
          </a:xfrm>
          <a:prstGeom prst="rect">
            <a:avLst/>
          </a:prstGeom>
        </p:spPr>
      </p:pic>
      <p:pic>
        <p:nvPicPr>
          <p:cNvPr id="6" name="Picture 5" descr="image.png"/>
          <p:cNvPicPr>
            <a:picLocks noChangeAspect="1"/>
          </p:cNvPicPr>
          <p:nvPr/>
        </p:nvPicPr>
        <p:blipFill>
          <a:blip r:embed="rId6"/>
          <a:stretch>
            <a:fillRect/>
          </a:stretch>
        </p:blipFill>
        <p:spPr>
          <a:xfrm>
            <a:off x="581025" y="519112"/>
            <a:ext cx="390525" cy="342900"/>
          </a:xfrm>
          <a:prstGeom prst="rect">
            <a:avLst/>
          </a:prstGeom>
        </p:spPr>
      </p:pic>
      <p:pic>
        <p:nvPicPr>
          <p:cNvPr id="7" name="Picture 6" descr="image.png"/>
          <p:cNvPicPr>
            <a:picLocks noChangeAspect="1"/>
          </p:cNvPicPr>
          <p:nvPr/>
        </p:nvPicPr>
        <p:blipFill>
          <a:blip r:embed="rId7"/>
          <a:stretch>
            <a:fillRect/>
          </a:stretch>
        </p:blipFill>
        <p:spPr>
          <a:xfrm>
            <a:off x="828675" y="2270521"/>
            <a:ext cx="571500" cy="571500"/>
          </a:xfrm>
          <a:prstGeom prst="rect">
            <a:avLst/>
          </a:prstGeom>
        </p:spPr>
      </p:pic>
      <p:sp>
        <p:nvSpPr>
          <p:cNvPr id="8" name="TextBox 7"/>
          <p:cNvSpPr txBox="1"/>
          <p:nvPr/>
        </p:nvSpPr>
        <p:spPr>
          <a:xfrm>
            <a:off x="828675" y="3013471"/>
            <a:ext cx="2187773" cy="457200"/>
          </a:xfrm>
          <a:prstGeom prst="rect">
            <a:avLst/>
          </a:prstGeom>
          <a:noFill/>
        </p:spPr>
        <p:txBody>
          <a:bodyPr wrap="square" lIns="0" rIns="0" tIns="0" bIns="0" anchor="t">
            <a:spAutoFit/>
          </a:bodyPr>
          <a:lstStyle/>
          <a:p>
            <a:pPr algn="l"/>
            <a:r>
              <a:rPr b="1" sz="1500" i="0" u="none">
                <a:solidFill>
                  <a:srgbClr val="0F172A"/>
                </a:solidFill>
                <a:latin typeface="Urbanist"/>
              </a:rPr>
              <a:t>Tầng Tương Tác (Client)</a:t>
            </a:r>
          </a:p>
        </p:txBody>
      </p:sp>
      <p:sp>
        <p:nvSpPr>
          <p:cNvPr id="9" name="TextBox 8"/>
          <p:cNvSpPr txBox="1"/>
          <p:nvPr/>
        </p:nvSpPr>
        <p:spPr>
          <a:xfrm>
            <a:off x="828675" y="3565921"/>
            <a:ext cx="2083593" cy="531316"/>
          </a:xfrm>
          <a:prstGeom prst="rect">
            <a:avLst/>
          </a:prstGeom>
          <a:noFill/>
        </p:spPr>
        <p:txBody>
          <a:bodyPr wrap="square" lIns="0" rIns="0" tIns="0" bIns="0" anchor="t">
            <a:spAutoFit/>
          </a:bodyPr>
          <a:lstStyle/>
          <a:p>
            <a:pPr algn="l">
              <a:lnSpc>
                <a:spcPts val="2092"/>
              </a:lnSpc>
            </a:pPr>
            <a:r>
              <a:rPr b="1" sz="1350" i="0" u="none">
                <a:solidFill>
                  <a:srgbClr val="334155"/>
                </a:solidFill>
                <a:latin typeface="Inter"/>
              </a:rPr>
              <a:t>ReactJS (Vite) &amp; Flutter SDK</a:t>
            </a:r>
          </a:p>
        </p:txBody>
      </p:sp>
      <p:sp>
        <p:nvSpPr>
          <p:cNvPr id="10" name="TextBox 9"/>
          <p:cNvSpPr txBox="1"/>
          <p:nvPr/>
        </p:nvSpPr>
        <p:spPr>
          <a:xfrm>
            <a:off x="828675" y="4097238"/>
            <a:ext cx="2083593"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Giao diện render mượt mà bằng Impeller/Skia Engine, phản hồi siêu tốc, loại bỏ hoàn toàn độ trễ cầu nối.</a:t>
            </a:r>
          </a:p>
        </p:txBody>
      </p:sp>
      <p:pic>
        <p:nvPicPr>
          <p:cNvPr id="11" name="Picture 10" descr="image.png"/>
          <p:cNvPicPr>
            <a:picLocks noChangeAspect="1"/>
          </p:cNvPicPr>
          <p:nvPr/>
        </p:nvPicPr>
        <p:blipFill>
          <a:blip r:embed="rId8"/>
          <a:stretch>
            <a:fillRect/>
          </a:stretch>
        </p:blipFill>
        <p:spPr>
          <a:xfrm>
            <a:off x="3645693" y="2270521"/>
            <a:ext cx="571500" cy="571500"/>
          </a:xfrm>
          <a:prstGeom prst="rect">
            <a:avLst/>
          </a:prstGeom>
        </p:spPr>
      </p:pic>
      <p:sp>
        <p:nvSpPr>
          <p:cNvPr id="12" name="TextBox 11"/>
          <p:cNvSpPr txBox="1"/>
          <p:nvPr/>
        </p:nvSpPr>
        <p:spPr>
          <a:xfrm>
            <a:off x="3645693" y="3013471"/>
            <a:ext cx="2187773" cy="457200"/>
          </a:xfrm>
          <a:prstGeom prst="rect">
            <a:avLst/>
          </a:prstGeom>
          <a:noFill/>
        </p:spPr>
        <p:txBody>
          <a:bodyPr wrap="square" lIns="0" rIns="0" tIns="0" bIns="0" anchor="t">
            <a:spAutoFit/>
          </a:bodyPr>
          <a:lstStyle/>
          <a:p>
            <a:pPr algn="l"/>
            <a:r>
              <a:rPr b="1" sz="1500" i="0" u="none">
                <a:solidFill>
                  <a:srgbClr val="0F172A"/>
                </a:solidFill>
                <a:latin typeface="Urbanist"/>
              </a:rPr>
              <a:t>API Gateway (Điều Phối)</a:t>
            </a:r>
          </a:p>
        </p:txBody>
      </p:sp>
      <p:sp>
        <p:nvSpPr>
          <p:cNvPr id="13" name="TextBox 12"/>
          <p:cNvSpPr txBox="1"/>
          <p:nvPr/>
        </p:nvSpPr>
        <p:spPr>
          <a:xfrm>
            <a:off x="3645693" y="3565921"/>
            <a:ext cx="2083593" cy="531316"/>
          </a:xfrm>
          <a:prstGeom prst="rect">
            <a:avLst/>
          </a:prstGeom>
          <a:noFill/>
        </p:spPr>
        <p:txBody>
          <a:bodyPr wrap="square" lIns="0" rIns="0" tIns="0" bIns="0" anchor="t">
            <a:spAutoFit/>
          </a:bodyPr>
          <a:lstStyle/>
          <a:p>
            <a:pPr algn="l">
              <a:lnSpc>
                <a:spcPts val="2092"/>
              </a:lnSpc>
            </a:pPr>
            <a:r>
              <a:rPr b="1" sz="1350" i="0" u="none">
                <a:solidFill>
                  <a:srgbClr val="334155"/>
                </a:solidFill>
                <a:latin typeface="Inter"/>
              </a:rPr>
              <a:t>NodeJS &amp; Express Framework</a:t>
            </a:r>
          </a:p>
        </p:txBody>
      </p:sp>
      <p:sp>
        <p:nvSpPr>
          <p:cNvPr id="14" name="TextBox 13"/>
          <p:cNvSpPr txBox="1"/>
          <p:nvPr/>
        </p:nvSpPr>
        <p:spPr>
          <a:xfrm>
            <a:off x="3645693" y="4097238"/>
            <a:ext cx="2083593"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Cơ chế Non-blocking I/O &amp; Event Loop duy trì connection pool kết nối MySQL, xử lý hàng ngàn request đồng thời.</a:t>
            </a:r>
          </a:p>
        </p:txBody>
      </p:sp>
      <p:pic>
        <p:nvPicPr>
          <p:cNvPr id="15" name="Picture 14" descr="image.png"/>
          <p:cNvPicPr>
            <a:picLocks noChangeAspect="1"/>
          </p:cNvPicPr>
          <p:nvPr/>
        </p:nvPicPr>
        <p:blipFill>
          <a:blip r:embed="rId8"/>
          <a:stretch>
            <a:fillRect/>
          </a:stretch>
        </p:blipFill>
        <p:spPr>
          <a:xfrm>
            <a:off x="6462712" y="2270521"/>
            <a:ext cx="571500" cy="571500"/>
          </a:xfrm>
          <a:prstGeom prst="rect">
            <a:avLst/>
          </a:prstGeom>
        </p:spPr>
      </p:pic>
      <p:sp>
        <p:nvSpPr>
          <p:cNvPr id="16" name="TextBox 15"/>
          <p:cNvSpPr txBox="1"/>
          <p:nvPr/>
        </p:nvSpPr>
        <p:spPr>
          <a:xfrm>
            <a:off x="6462712" y="3013471"/>
            <a:ext cx="2187773" cy="228600"/>
          </a:xfrm>
          <a:prstGeom prst="rect">
            <a:avLst/>
          </a:prstGeom>
          <a:noFill/>
        </p:spPr>
        <p:txBody>
          <a:bodyPr wrap="square" lIns="0" rIns="0" tIns="0" bIns="0" anchor="t">
            <a:spAutoFit/>
          </a:bodyPr>
          <a:lstStyle/>
          <a:p>
            <a:pPr algn="l"/>
            <a:r>
              <a:rPr b="1" sz="1500" i="0" u="none">
                <a:solidFill>
                  <a:srgbClr val="0F172A"/>
                </a:solidFill>
                <a:latin typeface="Urbanist"/>
              </a:rPr>
              <a:t>Động Cơ AI Core</a:t>
            </a:r>
          </a:p>
        </p:txBody>
      </p:sp>
      <p:sp>
        <p:nvSpPr>
          <p:cNvPr id="17" name="TextBox 16"/>
          <p:cNvSpPr txBox="1"/>
          <p:nvPr/>
        </p:nvSpPr>
        <p:spPr>
          <a:xfrm>
            <a:off x="6462712" y="3337321"/>
            <a:ext cx="2083593" cy="531316"/>
          </a:xfrm>
          <a:prstGeom prst="rect">
            <a:avLst/>
          </a:prstGeom>
          <a:noFill/>
        </p:spPr>
        <p:txBody>
          <a:bodyPr wrap="square" lIns="0" rIns="0" tIns="0" bIns="0" anchor="t">
            <a:spAutoFit/>
          </a:bodyPr>
          <a:lstStyle/>
          <a:p>
            <a:pPr algn="l">
              <a:lnSpc>
                <a:spcPts val="2092"/>
              </a:lnSpc>
            </a:pPr>
            <a:r>
              <a:rPr b="1" sz="1350" i="0" u="none">
                <a:solidFill>
                  <a:srgbClr val="334155"/>
                </a:solidFill>
                <a:latin typeface="Inter"/>
              </a:rPr>
              <a:t>Python &amp; FastAPI Framework</a:t>
            </a:r>
          </a:p>
        </p:txBody>
      </p:sp>
      <p:sp>
        <p:nvSpPr>
          <p:cNvPr id="18" name="TextBox 17"/>
          <p:cNvSpPr txBox="1"/>
          <p:nvPr/>
        </p:nvSpPr>
        <p:spPr>
          <a:xfrm>
            <a:off x="6462712" y="3868638"/>
            <a:ext cx="2083593"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Lập trình bất đồng bộ ASGI chuyên biệt chạy thuật toán xử lý hình ảnh, OCR và Image Hashing đòn bẩy.</a:t>
            </a:r>
          </a:p>
        </p:txBody>
      </p:sp>
      <p:pic>
        <p:nvPicPr>
          <p:cNvPr id="19" name="Picture 18" descr="image.png"/>
          <p:cNvPicPr>
            <a:picLocks noChangeAspect="1"/>
          </p:cNvPicPr>
          <p:nvPr/>
        </p:nvPicPr>
        <p:blipFill>
          <a:blip r:embed="rId9"/>
          <a:stretch>
            <a:fillRect/>
          </a:stretch>
        </p:blipFill>
        <p:spPr>
          <a:xfrm>
            <a:off x="9279731" y="2270521"/>
            <a:ext cx="571500" cy="571500"/>
          </a:xfrm>
          <a:prstGeom prst="rect">
            <a:avLst/>
          </a:prstGeom>
        </p:spPr>
      </p:pic>
      <p:sp>
        <p:nvSpPr>
          <p:cNvPr id="20" name="TextBox 19"/>
          <p:cNvSpPr txBox="1"/>
          <p:nvPr/>
        </p:nvSpPr>
        <p:spPr>
          <a:xfrm>
            <a:off x="9279731" y="3013471"/>
            <a:ext cx="2187773" cy="228600"/>
          </a:xfrm>
          <a:prstGeom prst="rect">
            <a:avLst/>
          </a:prstGeom>
          <a:noFill/>
        </p:spPr>
        <p:txBody>
          <a:bodyPr wrap="square" lIns="0" rIns="0" tIns="0" bIns="0" anchor="t">
            <a:spAutoFit/>
          </a:bodyPr>
          <a:lstStyle/>
          <a:p>
            <a:pPr algn="l"/>
            <a:r>
              <a:rPr b="1" sz="1500" i="0" u="none">
                <a:solidFill>
                  <a:srgbClr val="0F172A"/>
                </a:solidFill>
                <a:latin typeface="Urbanist"/>
              </a:rPr>
              <a:t>Tầng Dữ Liệu Vật Lý</a:t>
            </a:r>
          </a:p>
        </p:txBody>
      </p:sp>
      <p:sp>
        <p:nvSpPr>
          <p:cNvPr id="21" name="TextBox 20"/>
          <p:cNvSpPr txBox="1"/>
          <p:nvPr/>
        </p:nvSpPr>
        <p:spPr>
          <a:xfrm>
            <a:off x="9279731" y="3337321"/>
            <a:ext cx="2083593" cy="531316"/>
          </a:xfrm>
          <a:prstGeom prst="rect">
            <a:avLst/>
          </a:prstGeom>
          <a:noFill/>
        </p:spPr>
        <p:txBody>
          <a:bodyPr wrap="square" lIns="0" rIns="0" tIns="0" bIns="0" anchor="t">
            <a:spAutoFit/>
          </a:bodyPr>
          <a:lstStyle/>
          <a:p>
            <a:pPr algn="l">
              <a:lnSpc>
                <a:spcPts val="2092"/>
              </a:lnSpc>
            </a:pPr>
            <a:r>
              <a:rPr b="1" sz="1350" i="0" u="none">
                <a:solidFill>
                  <a:srgbClr val="334155"/>
                </a:solidFill>
                <a:latin typeface="Inter"/>
              </a:rPr>
              <a:t>MySQL Database &amp; Triggers</a:t>
            </a:r>
          </a:p>
        </p:txBody>
      </p:sp>
      <p:sp>
        <p:nvSpPr>
          <p:cNvPr id="22" name="TextBox 21"/>
          <p:cNvSpPr txBox="1"/>
          <p:nvPr/>
        </p:nvSpPr>
        <p:spPr>
          <a:xfrm>
            <a:off x="9279731" y="3868638"/>
            <a:ext cx="2083593"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Tuân thủ chuẩn ACID. Sử dụng Database Triggers tự động hóa tính điểm rèn luyện trực tiếp ở mức vật lý CSDL.</a:t>
            </a:r>
          </a:p>
        </p:txBody>
      </p:sp>
      <p:pic>
        <p:nvPicPr>
          <p:cNvPr id="23" name="Picture 22" descr="image.png"/>
          <p:cNvPicPr>
            <a:picLocks noChangeAspect="1"/>
          </p:cNvPicPr>
          <p:nvPr/>
        </p:nvPicPr>
        <p:blipFill>
          <a:blip r:embed="rId10"/>
          <a:stretch>
            <a:fillRect/>
          </a:stretch>
        </p:blipFill>
        <p:spPr>
          <a:xfrm>
            <a:off x="952500" y="2413396"/>
            <a:ext cx="323850" cy="285750"/>
          </a:xfrm>
          <a:prstGeom prst="rect">
            <a:avLst/>
          </a:prstGeom>
        </p:spPr>
      </p:pic>
      <p:pic>
        <p:nvPicPr>
          <p:cNvPr id="24" name="Picture 23" descr="image.png"/>
          <p:cNvPicPr>
            <a:picLocks noChangeAspect="1"/>
          </p:cNvPicPr>
          <p:nvPr/>
        </p:nvPicPr>
        <p:blipFill>
          <a:blip r:embed="rId11"/>
          <a:stretch>
            <a:fillRect/>
          </a:stretch>
        </p:blipFill>
        <p:spPr>
          <a:xfrm>
            <a:off x="3788568" y="2413396"/>
            <a:ext cx="285750" cy="285750"/>
          </a:xfrm>
          <a:prstGeom prst="rect">
            <a:avLst/>
          </a:prstGeom>
        </p:spPr>
      </p:pic>
      <p:pic>
        <p:nvPicPr>
          <p:cNvPr id="25" name="Picture 24" descr="image.png"/>
          <p:cNvPicPr>
            <a:picLocks noChangeAspect="1"/>
          </p:cNvPicPr>
          <p:nvPr/>
        </p:nvPicPr>
        <p:blipFill>
          <a:blip r:embed="rId12"/>
          <a:stretch>
            <a:fillRect/>
          </a:stretch>
        </p:blipFill>
        <p:spPr>
          <a:xfrm>
            <a:off x="6605587" y="2413396"/>
            <a:ext cx="285750" cy="285750"/>
          </a:xfrm>
          <a:prstGeom prst="rect">
            <a:avLst/>
          </a:prstGeom>
        </p:spPr>
      </p:pic>
      <p:pic>
        <p:nvPicPr>
          <p:cNvPr id="26" name="Picture 25" descr="image.png"/>
          <p:cNvPicPr>
            <a:picLocks noChangeAspect="1"/>
          </p:cNvPicPr>
          <p:nvPr/>
        </p:nvPicPr>
        <p:blipFill>
          <a:blip r:embed="rId13"/>
          <a:stretch>
            <a:fillRect/>
          </a:stretch>
        </p:blipFill>
        <p:spPr>
          <a:xfrm>
            <a:off x="9441656" y="2413396"/>
            <a:ext cx="247650" cy="285750"/>
          </a:xfrm>
          <a:prstGeom prst="rect">
            <a:avLst/>
          </a:prstGeom>
        </p:spPr>
      </p:pic>
      <p:sp>
        <p:nvSpPr>
          <p:cNvPr id="27" name="TextBox 26"/>
          <p:cNvSpPr txBox="1"/>
          <p:nvPr/>
        </p:nvSpPr>
        <p:spPr>
          <a:xfrm>
            <a:off x="1114425" y="485775"/>
            <a:ext cx="11021377" cy="438150"/>
          </a:xfrm>
          <a:prstGeom prst="rect">
            <a:avLst/>
          </a:prstGeom>
          <a:noFill/>
        </p:spPr>
        <p:txBody>
          <a:bodyPr wrap="square" lIns="0" rIns="0" tIns="0" bIns="0" anchor="ctr">
            <a:spAutoFit/>
          </a:bodyPr>
          <a:lstStyle/>
          <a:p>
            <a:pPr algn="l"/>
            <a:r>
              <a:rPr b="1" sz="2700" i="0" u="none">
                <a:solidFill>
                  <a:srgbClr val="0F172A"/>
                </a:solidFill>
                <a:latin typeface="Urbanist"/>
              </a:rPr>
              <a:t>Phẫu Thuật Kiến Trúc Công Nghệ Microservices</a:t>
            </a:r>
          </a:p>
        </p:txBody>
      </p:sp>
      <p:sp>
        <p:nvSpPr>
          <p:cNvPr id="28" name="Rectangle 27"/>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455812"/>
            <a:ext cx="5348287" cy="2784574"/>
          </a:xfrm>
          <a:prstGeom prst="rect">
            <a:avLst/>
          </a:prstGeom>
        </p:spPr>
      </p:pic>
      <p:pic>
        <p:nvPicPr>
          <p:cNvPr id="3" name="Picture 2" descr="image.png"/>
          <p:cNvPicPr>
            <a:picLocks noChangeAspect="1"/>
          </p:cNvPicPr>
          <p:nvPr/>
        </p:nvPicPr>
        <p:blipFill>
          <a:blip r:embed="rId3"/>
          <a:stretch>
            <a:fillRect/>
          </a:stretch>
        </p:blipFill>
        <p:spPr>
          <a:xfrm>
            <a:off x="6262687" y="2455812"/>
            <a:ext cx="5348287" cy="2784574"/>
          </a:xfrm>
          <a:prstGeom prst="rect">
            <a:avLst/>
          </a:prstGeom>
        </p:spPr>
      </p:pic>
      <p:pic>
        <p:nvPicPr>
          <p:cNvPr id="4" name="Picture 3" descr="image.png"/>
          <p:cNvPicPr>
            <a:picLocks noChangeAspect="1"/>
          </p:cNvPicPr>
          <p:nvPr/>
        </p:nvPicPr>
        <p:blipFill>
          <a:blip r:embed="rId4"/>
          <a:stretch>
            <a:fillRect/>
          </a:stretch>
        </p:blipFill>
        <p:spPr>
          <a:xfrm>
            <a:off x="581025" y="519112"/>
            <a:ext cx="257175" cy="342900"/>
          </a:xfrm>
          <a:prstGeom prst="rect">
            <a:avLst/>
          </a:prstGeom>
        </p:spPr>
      </p:pic>
      <p:sp>
        <p:nvSpPr>
          <p:cNvPr id="5" name="TextBox 4"/>
          <p:cNvSpPr txBox="1"/>
          <p:nvPr/>
        </p:nvSpPr>
        <p:spPr>
          <a:xfrm>
            <a:off x="1200150" y="2751087"/>
            <a:ext cx="4655581" cy="257175"/>
          </a:xfrm>
          <a:prstGeom prst="rect">
            <a:avLst/>
          </a:prstGeom>
          <a:noFill/>
        </p:spPr>
        <p:txBody>
          <a:bodyPr wrap="square" lIns="0" rIns="0" tIns="0" bIns="0" anchor="ctr">
            <a:spAutoFit/>
          </a:bodyPr>
          <a:lstStyle/>
          <a:p>
            <a:pPr algn="l"/>
            <a:r>
              <a:rPr b="1" sz="1650" i="0" u="none">
                <a:solidFill>
                  <a:srgbClr val="0F172A"/>
                </a:solidFill>
                <a:latin typeface="Urbanist"/>
              </a:rPr>
              <a:t>Dynamic QR Code (QR Động)</a:t>
            </a:r>
          </a:p>
        </p:txBody>
      </p:sp>
      <p:sp>
        <p:nvSpPr>
          <p:cNvPr id="6" name="TextBox 5"/>
          <p:cNvSpPr txBox="1"/>
          <p:nvPr/>
        </p:nvSpPr>
        <p:spPr>
          <a:xfrm>
            <a:off x="876300" y="3122562"/>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Mã QR trình chiếu tại hội trường được máy chủ làm mới liên tục theo thời gian thực.</a:t>
            </a:r>
          </a:p>
        </p:txBody>
      </p:sp>
      <p:sp>
        <p:nvSpPr>
          <p:cNvPr id="7" name="TextBox 6"/>
          <p:cNvSpPr txBox="1"/>
          <p:nvPr/>
        </p:nvSpPr>
        <p:spPr>
          <a:xfrm>
            <a:off x="876300" y="3768179"/>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Ảnh chụp màn hình chia sẻ ra bên ngoài qua nhóm chat sẽ lập tức bị hết hạn và vô hiệu hóa.</a:t>
            </a:r>
          </a:p>
        </p:txBody>
      </p:sp>
      <p:sp>
        <p:nvSpPr>
          <p:cNvPr id="8" name="TextBox 7"/>
          <p:cNvSpPr txBox="1"/>
          <p:nvPr/>
        </p:nvSpPr>
        <p:spPr>
          <a:xfrm>
            <a:off x="876300" y="4413795"/>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Mã hóa token bảo mật chứa thông tin ID sự kiện và thời gian thực thi.</a:t>
            </a:r>
          </a:p>
        </p:txBody>
      </p:sp>
      <p:sp>
        <p:nvSpPr>
          <p:cNvPr id="9" name="TextBox 8"/>
          <p:cNvSpPr txBox="1"/>
          <p:nvPr/>
        </p:nvSpPr>
        <p:spPr>
          <a:xfrm>
            <a:off x="6881812" y="2751087"/>
            <a:ext cx="4655581" cy="257175"/>
          </a:xfrm>
          <a:prstGeom prst="rect">
            <a:avLst/>
          </a:prstGeom>
          <a:noFill/>
        </p:spPr>
        <p:txBody>
          <a:bodyPr wrap="square" lIns="0" rIns="0" tIns="0" bIns="0" anchor="ctr">
            <a:spAutoFit/>
          </a:bodyPr>
          <a:lstStyle/>
          <a:p>
            <a:pPr algn="l"/>
            <a:r>
              <a:rPr b="1" sz="1650" i="0" u="none">
                <a:solidFill>
                  <a:srgbClr val="0F172A"/>
                </a:solidFill>
                <a:latin typeface="Urbanist"/>
              </a:rPr>
              <a:t>GPS Geofencing &amp; Haversine</a:t>
            </a:r>
          </a:p>
        </p:txBody>
      </p:sp>
      <p:sp>
        <p:nvSpPr>
          <p:cNvPr id="10" name="TextBox 9"/>
          <p:cNvSpPr txBox="1"/>
          <p:nvPr/>
        </p:nvSpPr>
        <p:spPr>
          <a:xfrm>
            <a:off x="6557962" y="3122562"/>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Bắt buộc thiết bị di động cung cấp tọa độ Kinh độ và Vĩ độ thực tế khi thực hiện quét QR.</a:t>
            </a:r>
          </a:p>
        </p:txBody>
      </p:sp>
      <p:sp>
        <p:nvSpPr>
          <p:cNvPr id="11" name="TextBox 10"/>
          <p:cNvSpPr txBox="1"/>
          <p:nvPr/>
        </p:nvSpPr>
        <p:spPr>
          <a:xfrm>
            <a:off x="6557962" y="3768179"/>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Ứng dụng </a:t>
            </a:r>
            <a:r>
              <a:rPr b="1" sz="1350" i="0" u="none">
                <a:solidFill>
                  <a:srgbClr val="334155"/>
                </a:solidFill>
                <a:latin typeface="Inter"/>
              </a:rPr>
              <a:t>Công thức Haversine</a:t>
            </a:r>
            <a:r>
              <a:rPr b="0" sz="1350" i="0" u="none">
                <a:solidFill>
                  <a:srgbClr val="334155"/>
                </a:solidFill>
                <a:latin typeface="Inter"/>
              </a:rPr>
              <a:t> tính khoảng cách địa lý theo độ cong Trái Đất giữa thiết bị và hội trường.</a:t>
            </a:r>
          </a:p>
        </p:txBody>
      </p:sp>
      <p:sp>
        <p:nvSpPr>
          <p:cNvPr id="12" name="TextBox 11"/>
          <p:cNvSpPr txBox="1"/>
          <p:nvPr/>
        </p:nvSpPr>
        <p:spPr>
          <a:xfrm>
            <a:off x="6557962" y="4413795"/>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Khoảng cách lệch vượt quá </a:t>
            </a:r>
            <a:r>
              <a:rPr b="1" sz="1350" i="0" u="none">
                <a:solidFill>
                  <a:srgbClr val="334155"/>
                </a:solidFill>
                <a:latin typeface="Inter"/>
              </a:rPr>
              <a:t>50 mét</a:t>
            </a:r>
            <a:r>
              <a:rPr b="0" sz="1350" i="0" u="none">
                <a:solidFill>
                  <a:srgbClr val="334155"/>
                </a:solidFill>
                <a:latin typeface="Inter"/>
              </a:rPr>
              <a:t> sẽ bị hệ thống tự động từ chối điểm danh ngay lập tức.</a:t>
            </a:r>
          </a:p>
        </p:txBody>
      </p:sp>
      <p:pic>
        <p:nvPicPr>
          <p:cNvPr id="13" name="Picture 12" descr="image.png"/>
          <p:cNvPicPr>
            <a:picLocks noChangeAspect="1"/>
          </p:cNvPicPr>
          <p:nvPr/>
        </p:nvPicPr>
        <p:blipFill>
          <a:blip r:embed="rId5"/>
          <a:stretch>
            <a:fillRect/>
          </a:stretch>
        </p:blipFill>
        <p:spPr>
          <a:xfrm>
            <a:off x="876300" y="2774900"/>
            <a:ext cx="209550" cy="209550"/>
          </a:xfrm>
          <a:prstGeom prst="rect">
            <a:avLst/>
          </a:prstGeom>
        </p:spPr>
      </p:pic>
      <p:pic>
        <p:nvPicPr>
          <p:cNvPr id="14" name="Picture 13" descr="image.png"/>
          <p:cNvPicPr>
            <a:picLocks noChangeAspect="1"/>
          </p:cNvPicPr>
          <p:nvPr/>
        </p:nvPicPr>
        <p:blipFill>
          <a:blip r:embed="rId6"/>
          <a:stretch>
            <a:fillRect/>
          </a:stretch>
        </p:blipFill>
        <p:spPr>
          <a:xfrm>
            <a:off x="6557962" y="2774900"/>
            <a:ext cx="209550" cy="209550"/>
          </a:xfrm>
          <a:prstGeom prst="rect">
            <a:avLst/>
          </a:prstGeom>
        </p:spPr>
      </p:pic>
      <p:sp>
        <p:nvSpPr>
          <p:cNvPr id="15" name="TextBox 14"/>
          <p:cNvSpPr txBox="1"/>
          <p:nvPr/>
        </p:nvSpPr>
        <p:spPr>
          <a:xfrm>
            <a:off x="981075" y="485775"/>
            <a:ext cx="11161395" cy="438150"/>
          </a:xfrm>
          <a:prstGeom prst="rect">
            <a:avLst/>
          </a:prstGeom>
          <a:noFill/>
        </p:spPr>
        <p:txBody>
          <a:bodyPr wrap="square" lIns="0" rIns="0" tIns="0" bIns="0" anchor="ctr">
            <a:spAutoFit/>
          </a:bodyPr>
          <a:lstStyle/>
          <a:p>
            <a:pPr algn="l"/>
            <a:r>
              <a:rPr b="1" sz="2700" i="0" u="none">
                <a:solidFill>
                  <a:srgbClr val="0F172A"/>
                </a:solidFill>
                <a:latin typeface="Urbanist"/>
              </a:rPr>
              <a:t>Công Nghệ 1: Mã QR Động &amp; Khóa Tọa Độ GPS</a:t>
            </a:r>
          </a:p>
        </p:txBody>
      </p:sp>
      <p:sp>
        <p:nvSpPr>
          <p:cNvPr id="16" name="Rectangle 15"/>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355205"/>
            <a:ext cx="3517850" cy="2985641"/>
          </a:xfrm>
          <a:prstGeom prst="rect">
            <a:avLst/>
          </a:prstGeom>
        </p:spPr>
      </p:pic>
      <p:pic>
        <p:nvPicPr>
          <p:cNvPr id="3" name="Picture 2" descr="image.png"/>
          <p:cNvPicPr>
            <a:picLocks noChangeAspect="1"/>
          </p:cNvPicPr>
          <p:nvPr/>
        </p:nvPicPr>
        <p:blipFill>
          <a:blip r:embed="rId3"/>
          <a:stretch>
            <a:fillRect/>
          </a:stretch>
        </p:blipFill>
        <p:spPr>
          <a:xfrm>
            <a:off x="4337000" y="2355205"/>
            <a:ext cx="3517850" cy="2985641"/>
          </a:xfrm>
          <a:prstGeom prst="rect">
            <a:avLst/>
          </a:prstGeom>
        </p:spPr>
      </p:pic>
      <p:pic>
        <p:nvPicPr>
          <p:cNvPr id="4" name="Picture 3" descr="image.png"/>
          <p:cNvPicPr>
            <a:picLocks noChangeAspect="1"/>
          </p:cNvPicPr>
          <p:nvPr/>
        </p:nvPicPr>
        <p:blipFill>
          <a:blip r:embed="rId4"/>
          <a:stretch>
            <a:fillRect/>
          </a:stretch>
        </p:blipFill>
        <p:spPr>
          <a:xfrm>
            <a:off x="8092975" y="2355205"/>
            <a:ext cx="3517850" cy="2985641"/>
          </a:xfrm>
          <a:prstGeom prst="rect">
            <a:avLst/>
          </a:prstGeom>
        </p:spPr>
      </p:pic>
      <p:pic>
        <p:nvPicPr>
          <p:cNvPr id="5" name="Picture 4" descr="image.png"/>
          <p:cNvPicPr>
            <a:picLocks noChangeAspect="1"/>
          </p:cNvPicPr>
          <p:nvPr/>
        </p:nvPicPr>
        <p:blipFill>
          <a:blip r:embed="rId5"/>
          <a:stretch>
            <a:fillRect/>
          </a:stretch>
        </p:blipFill>
        <p:spPr>
          <a:xfrm>
            <a:off x="581025" y="519112"/>
            <a:ext cx="428625" cy="342900"/>
          </a:xfrm>
          <a:prstGeom prst="rect">
            <a:avLst/>
          </a:prstGeom>
        </p:spPr>
      </p:pic>
      <p:pic>
        <p:nvPicPr>
          <p:cNvPr id="6" name="Picture 5" descr="image.png"/>
          <p:cNvPicPr>
            <a:picLocks noChangeAspect="1"/>
          </p:cNvPicPr>
          <p:nvPr/>
        </p:nvPicPr>
        <p:blipFill>
          <a:blip r:embed="rId6"/>
          <a:stretch>
            <a:fillRect/>
          </a:stretch>
        </p:blipFill>
        <p:spPr>
          <a:xfrm>
            <a:off x="828675" y="2650480"/>
            <a:ext cx="571500" cy="571500"/>
          </a:xfrm>
          <a:prstGeom prst="rect">
            <a:avLst/>
          </a:prstGeom>
        </p:spPr>
      </p:pic>
      <p:sp>
        <p:nvSpPr>
          <p:cNvPr id="7" name="TextBox 6"/>
          <p:cNvSpPr txBox="1"/>
          <p:nvPr/>
        </p:nvSpPr>
        <p:spPr>
          <a:xfrm>
            <a:off x="82867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1. Tesseract OCR &amp; OpenCV</a:t>
            </a:r>
          </a:p>
        </p:txBody>
      </p:sp>
      <p:sp>
        <p:nvSpPr>
          <p:cNvPr id="8" name="TextBox 7"/>
          <p:cNvSpPr txBox="1"/>
          <p:nvPr/>
        </p:nvSpPr>
        <p:spPr>
          <a:xfrm>
            <a:off x="82867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Sử dụng mạng LSTM Neural Net kết hợp tiền xử lý nhị phân hóa Otsu để trích xuất đa ngôn ngữ (MSSV, Họ tên, Tên sự kiện) đạt độ chính xác cao.</a:t>
            </a:r>
          </a:p>
        </p:txBody>
      </p:sp>
      <p:pic>
        <p:nvPicPr>
          <p:cNvPr id="9" name="Picture 8" descr="image.png"/>
          <p:cNvPicPr>
            <a:picLocks noChangeAspect="1"/>
          </p:cNvPicPr>
          <p:nvPr/>
        </p:nvPicPr>
        <p:blipFill>
          <a:blip r:embed="rId7"/>
          <a:stretch>
            <a:fillRect/>
          </a:stretch>
        </p:blipFill>
        <p:spPr>
          <a:xfrm>
            <a:off x="4584650" y="2650480"/>
            <a:ext cx="571500" cy="571500"/>
          </a:xfrm>
          <a:prstGeom prst="rect">
            <a:avLst/>
          </a:prstGeom>
        </p:spPr>
      </p:pic>
      <p:sp>
        <p:nvSpPr>
          <p:cNvPr id="10" name="TextBox 9"/>
          <p:cNvSpPr txBox="1"/>
          <p:nvPr/>
        </p:nvSpPr>
        <p:spPr>
          <a:xfrm>
            <a:off x="4584650"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2. Perceptual Hash (pHash)</a:t>
            </a:r>
          </a:p>
        </p:txBody>
      </p:sp>
      <p:sp>
        <p:nvSpPr>
          <p:cNvPr id="11" name="TextBox 10"/>
          <p:cNvSpPr txBox="1"/>
          <p:nvPr/>
        </p:nvSpPr>
        <p:spPr>
          <a:xfrm>
            <a:off x="4584650"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Chuyển đổi ảnh sang ma trận xám, áp dụng Biến đổi Cosine Rời rạc (DCT) tạo mã băm 64-bit trực quan. So sánh Khoảng cách Hamming chống sao chép ảnh.</a:t>
            </a:r>
          </a:p>
        </p:txBody>
      </p:sp>
      <p:pic>
        <p:nvPicPr>
          <p:cNvPr id="12" name="Picture 11" descr="image.png"/>
          <p:cNvPicPr>
            <a:picLocks noChangeAspect="1"/>
          </p:cNvPicPr>
          <p:nvPr/>
        </p:nvPicPr>
        <p:blipFill>
          <a:blip r:embed="rId8"/>
          <a:stretch>
            <a:fillRect/>
          </a:stretch>
        </p:blipFill>
        <p:spPr>
          <a:xfrm>
            <a:off x="8340625" y="2650480"/>
            <a:ext cx="571500" cy="571500"/>
          </a:xfrm>
          <a:prstGeom prst="rect">
            <a:avLst/>
          </a:prstGeom>
        </p:spPr>
      </p:pic>
      <p:sp>
        <p:nvSpPr>
          <p:cNvPr id="13" name="TextBox 12"/>
          <p:cNvSpPr txBox="1"/>
          <p:nvPr/>
        </p:nvSpPr>
        <p:spPr>
          <a:xfrm>
            <a:off x="834062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3. EXIF Metadata Scanner</a:t>
            </a:r>
          </a:p>
        </p:txBody>
      </p:sp>
      <p:sp>
        <p:nvSpPr>
          <p:cNvPr id="14" name="TextBox 13"/>
          <p:cNvSpPr txBox="1"/>
          <p:nvPr/>
        </p:nvSpPr>
        <p:spPr>
          <a:xfrm>
            <a:off x="8340625" y="3717280"/>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Quét sâu vào thẻ ẩn hình ảnh, truy vết thuộc tính </a:t>
            </a:r>
            <a:r>
              <a:rPr b="0" sz="1350" i="0" u="none">
                <a:solidFill>
                  <a:srgbClr val="334155"/>
                </a:solidFill>
                <a:latin typeface="Inter"/>
              </a:rPr>
              <a:t>Software</a:t>
            </a:r>
            <a:r>
              <a:rPr b="0" sz="1350" i="0" u="none">
                <a:solidFill>
                  <a:srgbClr val="334155"/>
                </a:solidFill>
                <a:latin typeface="Inter"/>
              </a:rPr>
              <a:t> để phát hiện dấu vết chỉnh sửa ảnh từ Adobe Photoshop, Canva hoặc PicsArt.</a:t>
            </a:r>
          </a:p>
        </p:txBody>
      </p:sp>
      <p:pic>
        <p:nvPicPr>
          <p:cNvPr id="15" name="Picture 14" descr="image.png"/>
          <p:cNvPicPr>
            <a:picLocks noChangeAspect="1"/>
          </p:cNvPicPr>
          <p:nvPr/>
        </p:nvPicPr>
        <p:blipFill>
          <a:blip r:embed="rId9"/>
          <a:stretch>
            <a:fillRect/>
          </a:stretch>
        </p:blipFill>
        <p:spPr>
          <a:xfrm>
            <a:off x="1004887" y="2793355"/>
            <a:ext cx="219075" cy="285750"/>
          </a:xfrm>
          <a:prstGeom prst="rect">
            <a:avLst/>
          </a:prstGeom>
        </p:spPr>
      </p:pic>
      <p:pic>
        <p:nvPicPr>
          <p:cNvPr id="16" name="Picture 15" descr="image.png"/>
          <p:cNvPicPr>
            <a:picLocks noChangeAspect="1"/>
          </p:cNvPicPr>
          <p:nvPr/>
        </p:nvPicPr>
        <p:blipFill>
          <a:blip r:embed="rId10"/>
          <a:stretch>
            <a:fillRect/>
          </a:stretch>
        </p:blipFill>
        <p:spPr>
          <a:xfrm>
            <a:off x="4727525" y="2793355"/>
            <a:ext cx="285750" cy="285750"/>
          </a:xfrm>
          <a:prstGeom prst="rect">
            <a:avLst/>
          </a:prstGeom>
        </p:spPr>
      </p:pic>
      <p:pic>
        <p:nvPicPr>
          <p:cNvPr id="17" name="Picture 16" descr="image.png"/>
          <p:cNvPicPr>
            <a:picLocks noChangeAspect="1"/>
          </p:cNvPicPr>
          <p:nvPr/>
        </p:nvPicPr>
        <p:blipFill>
          <a:blip r:embed="rId11"/>
          <a:stretch>
            <a:fillRect/>
          </a:stretch>
        </p:blipFill>
        <p:spPr>
          <a:xfrm>
            <a:off x="8483500" y="2793355"/>
            <a:ext cx="285750" cy="285750"/>
          </a:xfrm>
          <a:prstGeom prst="rect">
            <a:avLst/>
          </a:prstGeom>
        </p:spPr>
      </p:pic>
      <p:sp>
        <p:nvSpPr>
          <p:cNvPr id="18" name="TextBox 17"/>
          <p:cNvSpPr txBox="1"/>
          <p:nvPr/>
        </p:nvSpPr>
        <p:spPr>
          <a:xfrm>
            <a:off x="1152525" y="485775"/>
            <a:ext cx="10981372" cy="438150"/>
          </a:xfrm>
          <a:prstGeom prst="rect">
            <a:avLst/>
          </a:prstGeom>
          <a:noFill/>
        </p:spPr>
        <p:txBody>
          <a:bodyPr wrap="square" lIns="0" rIns="0" tIns="0" bIns="0" anchor="ctr">
            <a:spAutoFit/>
          </a:bodyPr>
          <a:lstStyle/>
          <a:p>
            <a:pPr algn="l"/>
            <a:r>
              <a:rPr b="1" sz="2700" i="0" u="none">
                <a:solidFill>
                  <a:srgbClr val="0F172A"/>
                </a:solidFill>
                <a:latin typeface="Urbanist"/>
              </a:rPr>
              <a:t>Công Nghệ 2: Tổ Hợp Trí Tuệ Nhân Tạo (The AI Trinity)</a:t>
            </a:r>
          </a:p>
        </p:txBody>
      </p:sp>
      <p:sp>
        <p:nvSpPr>
          <p:cNvPr id="19" name="Rectangle 18"/>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519112"/>
            <a:ext cx="342900" cy="342900"/>
          </a:xfrm>
          <a:prstGeom prst="rect">
            <a:avLst/>
          </a:prstGeom>
        </p:spPr>
      </p:pic>
      <p:sp>
        <p:nvSpPr>
          <p:cNvPr id="3" name="TextBox 2"/>
          <p:cNvSpPr txBox="1"/>
          <p:nvPr/>
        </p:nvSpPr>
        <p:spPr>
          <a:xfrm>
            <a:off x="1057275" y="2366367"/>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Cảnh báo Siêu dữ liệu (EXIF Software Tag):</a:t>
            </a:r>
            <a:r>
              <a:rPr b="0" sz="1350" i="0" u="none">
                <a:solidFill>
                  <a:srgbClr val="334155"/>
                </a:solidFill>
                <a:latin typeface="Inter"/>
              </a:rPr>
              <a:t> Phát hiện tệp ảnh được xuất xuất từ phần mềm </a:t>
            </a:r>
            <a:r>
              <a:rPr b="0" sz="1350" i="1" u="none">
                <a:solidFill>
                  <a:srgbClr val="334155"/>
                </a:solidFill>
                <a:latin typeface="Inter"/>
              </a:rPr>
              <a:t>Adobe Photoshop 2023</a:t>
            </a:r>
            <a:r>
              <a:rPr b="0" sz="1350" i="0" u="none">
                <a:solidFill>
                  <a:srgbClr val="334155"/>
                </a:solidFill>
                <a:latin typeface="Inter"/>
              </a:rPr>
              <a:t> → Kích hoạt cờ đỏ nghi vấn làm giả hình ảnh.</a:t>
            </a:r>
          </a:p>
        </p:txBody>
      </p:sp>
      <p:sp>
        <p:nvSpPr>
          <p:cNvPr id="4" name="TextBox 3"/>
          <p:cNvSpPr txBox="1"/>
          <p:nvPr/>
        </p:nvSpPr>
        <p:spPr>
          <a:xfrm>
            <a:off x="1057275" y="3107233"/>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Cảnh báo Trùng lặp pHash (Hamming Distance = 0):</a:t>
            </a:r>
            <a:r>
              <a:rPr b="0" sz="1350" i="0" u="none">
                <a:solidFill>
                  <a:srgbClr val="334155"/>
                </a:solidFill>
                <a:latin typeface="Inter"/>
              </a:rPr>
              <a:t> Mã băm ảnh trùng khớp hoàn toàn với bản ghi trong CSDL → Kích hoạt cờ vàng: Sinh viên nộp lại ảnh chứng chỉ của người khác hoặc khóa trước.</a:t>
            </a:r>
          </a:p>
        </p:txBody>
      </p:sp>
      <p:sp>
        <p:nvSpPr>
          <p:cNvPr id="5" name="TextBox 4"/>
          <p:cNvSpPr txBox="1"/>
          <p:nvPr/>
        </p:nvSpPr>
        <p:spPr>
          <a:xfrm>
            <a:off x="1057275" y="3848100"/>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Đánh giá Đối khớp OCR Văn bản:</a:t>
            </a:r>
            <a:r>
              <a:rPr b="0" sz="1350" i="0" u="none">
                <a:solidFill>
                  <a:srgbClr val="334155"/>
                </a:solidFill>
                <a:latin typeface="Inter"/>
              </a:rPr>
              <a:t> MSSV trích xuất khớp 100% nhưng tên sự kiện chỉ đạt ngưỡng 20% so với dữ liệu cấu hình → Chuyển hồ sơ về cán bộ kiểm tra thủ công.</a:t>
            </a:r>
          </a:p>
        </p:txBody>
      </p:sp>
      <p:sp>
        <p:nvSpPr>
          <p:cNvPr id="6" name="TextBox 5"/>
          <p:cNvSpPr txBox="1"/>
          <p:nvPr/>
        </p:nvSpPr>
        <p:spPr>
          <a:xfrm>
            <a:off x="1057275" y="4588966"/>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Hành động Tự động của Hệ thống:</a:t>
            </a:r>
            <a:r>
              <a:rPr b="0" sz="1350" i="0" u="none">
                <a:solidFill>
                  <a:srgbClr val="334155"/>
                </a:solidFill>
                <a:latin typeface="Inter"/>
              </a:rPr>
              <a:t> Tự động gắn nhãn (Từ chối duyệt tự động), gửi cảnh báo kèm lý do vi phạm chi tiết cho cán bộ quản lý rà soát.</a:t>
            </a:r>
          </a:p>
        </p:txBody>
      </p:sp>
      <p:pic>
        <p:nvPicPr>
          <p:cNvPr id="7" name="Picture 6" descr="image.png"/>
          <p:cNvPicPr>
            <a:picLocks noChangeAspect="1"/>
          </p:cNvPicPr>
          <p:nvPr/>
        </p:nvPicPr>
        <p:blipFill>
          <a:blip r:embed="rId3"/>
          <a:stretch>
            <a:fillRect/>
          </a:stretch>
        </p:blipFill>
        <p:spPr>
          <a:xfrm>
            <a:off x="5486400" y="4569916"/>
            <a:ext cx="1000125" cy="295275"/>
          </a:xfrm>
          <a:prstGeom prst="rect">
            <a:avLst/>
          </a:prstGeom>
        </p:spPr>
      </p:pic>
      <p:pic>
        <p:nvPicPr>
          <p:cNvPr id="8" name="Picture 7" descr="image.png"/>
          <p:cNvPicPr>
            <a:picLocks noChangeAspect="1"/>
          </p:cNvPicPr>
          <p:nvPr/>
        </p:nvPicPr>
        <p:blipFill>
          <a:blip r:embed="rId4"/>
          <a:stretch>
            <a:fillRect/>
          </a:stretch>
        </p:blipFill>
        <p:spPr>
          <a:xfrm>
            <a:off x="581025" y="2347317"/>
            <a:ext cx="152400" cy="152400"/>
          </a:xfrm>
          <a:prstGeom prst="rect">
            <a:avLst/>
          </a:prstGeom>
        </p:spPr>
      </p:pic>
      <p:pic>
        <p:nvPicPr>
          <p:cNvPr id="9" name="Picture 8" descr="image.png"/>
          <p:cNvPicPr>
            <a:picLocks noChangeAspect="1"/>
          </p:cNvPicPr>
          <p:nvPr/>
        </p:nvPicPr>
        <p:blipFill>
          <a:blip r:embed="rId5"/>
          <a:stretch>
            <a:fillRect/>
          </a:stretch>
        </p:blipFill>
        <p:spPr>
          <a:xfrm>
            <a:off x="581025" y="3088183"/>
            <a:ext cx="133350" cy="152400"/>
          </a:xfrm>
          <a:prstGeom prst="rect">
            <a:avLst/>
          </a:prstGeom>
        </p:spPr>
      </p:pic>
      <p:pic>
        <p:nvPicPr>
          <p:cNvPr id="10" name="Picture 9" descr="image.png"/>
          <p:cNvPicPr>
            <a:picLocks noChangeAspect="1"/>
          </p:cNvPicPr>
          <p:nvPr/>
        </p:nvPicPr>
        <p:blipFill>
          <a:blip r:embed="rId6"/>
          <a:stretch>
            <a:fillRect/>
          </a:stretch>
        </p:blipFill>
        <p:spPr>
          <a:xfrm>
            <a:off x="581025" y="3829050"/>
            <a:ext cx="133350" cy="152400"/>
          </a:xfrm>
          <a:prstGeom prst="rect">
            <a:avLst/>
          </a:prstGeom>
        </p:spPr>
      </p:pic>
      <p:pic>
        <p:nvPicPr>
          <p:cNvPr id="11" name="Picture 10" descr="image.png"/>
          <p:cNvPicPr>
            <a:picLocks noChangeAspect="1"/>
          </p:cNvPicPr>
          <p:nvPr/>
        </p:nvPicPr>
        <p:blipFill>
          <a:blip r:embed="rId7"/>
          <a:stretch>
            <a:fillRect/>
          </a:stretch>
        </p:blipFill>
        <p:spPr>
          <a:xfrm>
            <a:off x="581025" y="4569916"/>
            <a:ext cx="190500" cy="152400"/>
          </a:xfrm>
          <a:prstGeom prst="rect">
            <a:avLst/>
          </a:prstGeom>
        </p:spPr>
      </p:pic>
      <p:sp>
        <p:nvSpPr>
          <p:cNvPr id="12" name="TextBox 11"/>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Phân Tích Giải Phẫu Minh Chứng Giả Mạo</a:t>
            </a:r>
          </a:p>
        </p:txBody>
      </p:sp>
      <p:sp>
        <p:nvSpPr>
          <p:cNvPr id="13" name="Rectangle 12"/>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322909"/>
            <a:ext cx="5348287" cy="3050232"/>
          </a:xfrm>
          <a:prstGeom prst="rect">
            <a:avLst/>
          </a:prstGeom>
        </p:spPr>
      </p:pic>
      <p:pic>
        <p:nvPicPr>
          <p:cNvPr id="3" name="Picture 2" descr="image.png"/>
          <p:cNvPicPr>
            <a:picLocks noChangeAspect="1"/>
          </p:cNvPicPr>
          <p:nvPr/>
        </p:nvPicPr>
        <p:blipFill>
          <a:blip r:embed="rId3"/>
          <a:stretch>
            <a:fillRect/>
          </a:stretch>
        </p:blipFill>
        <p:spPr>
          <a:xfrm>
            <a:off x="6262687" y="2322909"/>
            <a:ext cx="5348287" cy="3050232"/>
          </a:xfrm>
          <a:prstGeom prst="rect">
            <a:avLst/>
          </a:prstGeom>
        </p:spPr>
      </p:pic>
      <p:pic>
        <p:nvPicPr>
          <p:cNvPr id="4" name="Picture 3" descr="image.png"/>
          <p:cNvPicPr>
            <a:picLocks noChangeAspect="1"/>
          </p:cNvPicPr>
          <p:nvPr/>
        </p:nvPicPr>
        <p:blipFill>
          <a:blip r:embed="rId4"/>
          <a:stretch>
            <a:fillRect/>
          </a:stretch>
        </p:blipFill>
        <p:spPr>
          <a:xfrm>
            <a:off x="581025" y="519112"/>
            <a:ext cx="342900" cy="342900"/>
          </a:xfrm>
          <a:prstGeom prst="rect">
            <a:avLst/>
          </a:prstGeom>
        </p:spPr>
      </p:pic>
      <p:sp>
        <p:nvSpPr>
          <p:cNvPr id="5" name="TextBox 4"/>
          <p:cNvSpPr txBox="1"/>
          <p:nvPr/>
        </p:nvSpPr>
        <p:spPr>
          <a:xfrm>
            <a:off x="1200150" y="2618184"/>
            <a:ext cx="4655581" cy="257175"/>
          </a:xfrm>
          <a:prstGeom prst="rect">
            <a:avLst/>
          </a:prstGeom>
          <a:noFill/>
        </p:spPr>
        <p:txBody>
          <a:bodyPr wrap="square" lIns="0" rIns="0" tIns="0" bIns="0" anchor="ctr">
            <a:spAutoFit/>
          </a:bodyPr>
          <a:lstStyle/>
          <a:p>
            <a:pPr algn="l"/>
            <a:r>
              <a:rPr b="1" sz="1650" i="0" u="none">
                <a:solidFill>
                  <a:srgbClr val="0F172A"/>
                </a:solidFill>
                <a:latin typeface="Urbanist"/>
              </a:rPr>
              <a:t>Bài Toán Khóa Nhầm Chứng Chỉ Online</a:t>
            </a:r>
          </a:p>
        </p:txBody>
      </p:sp>
      <p:sp>
        <p:nvSpPr>
          <p:cNvPr id="6" name="TextBox 5"/>
          <p:cNvSpPr txBox="1"/>
          <p:nvPr/>
        </p:nvSpPr>
        <p:spPr>
          <a:xfrm>
            <a:off x="876300" y="2989659"/>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Các khóa học học thuật trực tuyến (Coursera, Udemy, edX) cấp chứng chỉ có thiết kế biểu mẫu giống hệt nhau cho hàng ngàn học viên.</a:t>
            </a:r>
          </a:p>
        </p:txBody>
      </p:sp>
      <p:sp>
        <p:nvSpPr>
          <p:cNvPr id="7" name="TextBox 6"/>
          <p:cNvSpPr txBox="1"/>
          <p:nvPr/>
        </p:nvSpPr>
        <p:spPr>
          <a:xfrm>
            <a:off x="876300" y="3900933"/>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Nếu chỉ dùng thuật toán băm ảnh pHash đơn thuần, toàn bộ chứng chỉ này sẽ bị nhận diện nhầm là trùng lặp và bị chặn duyệt tự động hàng loạt.</a:t>
            </a:r>
          </a:p>
        </p:txBody>
      </p:sp>
      <p:sp>
        <p:nvSpPr>
          <p:cNvPr id="8" name="TextBox 7"/>
          <p:cNvSpPr txBox="1"/>
          <p:nvPr/>
        </p:nvSpPr>
        <p:spPr>
          <a:xfrm>
            <a:off x="6881812" y="2618184"/>
            <a:ext cx="4655581" cy="257175"/>
          </a:xfrm>
          <a:prstGeom prst="rect">
            <a:avLst/>
          </a:prstGeom>
          <a:noFill/>
        </p:spPr>
        <p:txBody>
          <a:bodyPr wrap="square" lIns="0" rIns="0" tIns="0" bIns="0" anchor="ctr">
            <a:spAutoFit/>
          </a:bodyPr>
          <a:lstStyle/>
          <a:p>
            <a:pPr algn="l"/>
            <a:r>
              <a:rPr b="1" sz="1650" i="0" u="none">
                <a:solidFill>
                  <a:srgbClr val="0F172A"/>
                </a:solidFill>
                <a:latin typeface="Urbanist"/>
              </a:rPr>
              <a:t>Cơ Chế Giải Quyết Bằng Bộ Lọc Kép</a:t>
            </a:r>
          </a:p>
        </p:txBody>
      </p:sp>
      <p:sp>
        <p:nvSpPr>
          <p:cNvPr id="9" name="TextBox 8"/>
          <p:cNvSpPr txBox="1"/>
          <p:nvPr/>
        </p:nvSpPr>
        <p:spPr>
          <a:xfrm>
            <a:off x="6557962" y="2989659"/>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Tầng 1 (pHash):</a:t>
            </a:r>
            <a:r>
              <a:rPr b="0" sz="1350" i="0" u="none">
                <a:solidFill>
                  <a:srgbClr val="334155"/>
                </a:solidFill>
                <a:latin typeface="Inter"/>
              </a:rPr>
              <a:t> Phát hiện trùng lặp cấu trúc hình ảnh (Khoảng cách Hamming &lt; 10).</a:t>
            </a:r>
          </a:p>
        </p:txBody>
      </p:sp>
      <p:sp>
        <p:nvSpPr>
          <p:cNvPr id="10" name="TextBox 9"/>
          <p:cNvSpPr txBox="1"/>
          <p:nvPr/>
        </p:nvSpPr>
        <p:spPr>
          <a:xfrm>
            <a:off x="6557962" y="3635275"/>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Tầng 2 (OCR Cross-Check):</a:t>
            </a:r>
            <a:r>
              <a:rPr b="0" sz="1350" i="0" u="none">
                <a:solidFill>
                  <a:srgbClr val="334155"/>
                </a:solidFill>
                <a:latin typeface="Inter"/>
              </a:rPr>
              <a:t> Trích xuất văn bản chữ, so sánh mã số sinh viên trong 2 chứng chỉ.</a:t>
            </a:r>
          </a:p>
        </p:txBody>
      </p:sp>
      <p:sp>
        <p:nvSpPr>
          <p:cNvPr id="11" name="TextBox 10"/>
          <p:cNvSpPr txBox="1"/>
          <p:nvPr/>
        </p:nvSpPr>
        <p:spPr>
          <a:xfrm>
            <a:off x="6557962" y="4280892"/>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Kết luận:</a:t>
            </a:r>
            <a:r>
              <a:rPr b="0" sz="1350" i="0" u="none">
                <a:solidFill>
                  <a:srgbClr val="334155"/>
                </a:solidFill>
                <a:latin typeface="Inter"/>
              </a:rPr>
              <a:t> Nếu MSSV khác nhau → Hệ thống xác nhận là 2 chứng chỉ hợp lệ riêng biệt, tự động xóa cờ cảnh báo và thực hiện .</a:t>
            </a:r>
          </a:p>
        </p:txBody>
      </p:sp>
      <p:pic>
        <p:nvPicPr>
          <p:cNvPr id="12" name="Picture 11" descr="image.png"/>
          <p:cNvPicPr>
            <a:picLocks noChangeAspect="1"/>
          </p:cNvPicPr>
          <p:nvPr/>
        </p:nvPicPr>
        <p:blipFill>
          <a:blip r:embed="rId5"/>
          <a:stretch>
            <a:fillRect/>
          </a:stretch>
        </p:blipFill>
        <p:spPr>
          <a:xfrm>
            <a:off x="876300" y="2641996"/>
            <a:ext cx="209550" cy="209550"/>
          </a:xfrm>
          <a:prstGeom prst="rect">
            <a:avLst/>
          </a:prstGeom>
        </p:spPr>
      </p:pic>
      <p:pic>
        <p:nvPicPr>
          <p:cNvPr id="13" name="Picture 12" descr="image.png"/>
          <p:cNvPicPr>
            <a:picLocks noChangeAspect="1"/>
          </p:cNvPicPr>
          <p:nvPr/>
        </p:nvPicPr>
        <p:blipFill>
          <a:blip r:embed="rId6"/>
          <a:stretch>
            <a:fillRect/>
          </a:stretch>
        </p:blipFill>
        <p:spPr>
          <a:xfrm>
            <a:off x="6557962" y="2641996"/>
            <a:ext cx="209550" cy="209550"/>
          </a:xfrm>
          <a:prstGeom prst="rect">
            <a:avLst/>
          </a:prstGeom>
        </p:spPr>
      </p:pic>
      <p:pic>
        <p:nvPicPr>
          <p:cNvPr id="14" name="Picture 13" descr="image.png"/>
          <p:cNvPicPr>
            <a:picLocks noChangeAspect="1"/>
          </p:cNvPicPr>
          <p:nvPr/>
        </p:nvPicPr>
        <p:blipFill>
          <a:blip r:embed="rId7"/>
          <a:stretch>
            <a:fillRect/>
          </a:stretch>
        </p:blipFill>
        <p:spPr>
          <a:xfrm>
            <a:off x="7367587" y="4793158"/>
            <a:ext cx="1581150" cy="295275"/>
          </a:xfrm>
          <a:prstGeom prst="rect">
            <a:avLst/>
          </a:prstGeom>
        </p:spPr>
      </p:pic>
      <p:sp>
        <p:nvSpPr>
          <p:cNvPr id="15" name="TextBox 14"/>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Giải Quyết Điểm Mù: Bộ Lọc Kép Thông Minh</a:t>
            </a:r>
          </a:p>
        </p:txBody>
      </p:sp>
      <p:sp>
        <p:nvSpPr>
          <p:cNvPr id="16" name="Rectangle 15"/>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519112"/>
            <a:ext cx="342900" cy="342900"/>
          </a:xfrm>
          <a:prstGeom prst="rect">
            <a:avLst/>
          </a:prstGeom>
        </p:spPr>
      </p:pic>
      <p:sp>
        <p:nvSpPr>
          <p:cNvPr id="3" name="Rounded Rectangle 2"/>
          <p:cNvSpPr/>
          <p:nvPr/>
        </p:nvSpPr>
        <p:spPr>
          <a:xfrm>
            <a:off x="581025" y="2451199"/>
            <a:ext cx="11029950" cy="2793652"/>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81025" y="2451199"/>
          <a:ext cx="11020423" cy="2793652"/>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467867"/>
                <a:gridCol w="3124051"/>
                <a:gridCol w="3597473"/>
                <a:gridCol w="1831032"/>
              </a:tblGrid>
              <a:tr h="698413">
                <a:tc>
                  <a:txBody>
                    <a:bodyPr/>
                    <a:lstStyle/>
                    <a:p>
                      <a:pPr algn="l"/>
                      <a:r>
                        <a:rPr b="1" sz="1200" i="0" u="none">
                          <a:solidFill>
                            <a:srgbClr val="FFFFFF"/>
                          </a:solidFill>
                          <a:latin typeface="Inter"/>
                        </a:rPr>
                        <a:t>Loại Sự Kiện</a:t>
                      </a:r>
                    </a:p>
                  </a:txBody>
                  <a:tcPr anchor="ctr" marL="63500" marR="63500" marT="25400" marB="25400">
                    <a:lnL>
                      <a:noFill/>
                    </a:lnL>
                    <a:lnR>
                      <a:noFill/>
                    </a:lnR>
                    <a:lnT>
                      <a:noFill/>
                    </a:lnT>
                    <a:lnB>
                      <a:noFill/>
                    </a:lnB>
                    <a:solidFill>
                      <a:srgbClr val="1E293B"/>
                    </a:solidFill>
                  </a:tcPr>
                </a:tc>
                <a:tc>
                  <a:txBody>
                    <a:bodyPr/>
                    <a:lstStyle/>
                    <a:p>
                      <a:pPr algn="l"/>
                      <a:r>
                        <a:rPr b="1" sz="1200" i="0" u="none">
                          <a:solidFill>
                            <a:srgbClr val="FFFFFF"/>
                          </a:solidFill>
                          <a:latin typeface="Inter"/>
                        </a:rPr>
                        <a:t>Phương Thức Xác Thực</a:t>
                      </a:r>
                    </a:p>
                  </a:txBody>
                  <a:tcPr anchor="ctr" marL="63500" marR="63500" marT="25400" marB="25400">
                    <a:lnL>
                      <a:noFill/>
                    </a:lnL>
                    <a:lnR>
                      <a:noFill/>
                    </a:lnR>
                    <a:lnT>
                      <a:noFill/>
                    </a:lnT>
                    <a:lnB>
                      <a:noFill/>
                    </a:lnB>
                    <a:solidFill>
                      <a:srgbClr val="1E293B"/>
                    </a:solidFill>
                  </a:tcPr>
                </a:tc>
                <a:tc>
                  <a:txBody>
                    <a:bodyPr/>
                    <a:lstStyle/>
                    <a:p>
                      <a:pPr algn="l"/>
                      <a:r>
                        <a:rPr b="1" sz="1200" i="0" u="none">
                          <a:solidFill>
                            <a:srgbClr val="FFFFFF"/>
                          </a:solidFill>
                          <a:latin typeface="Inter"/>
                        </a:rPr>
                        <a:t>Luồng Xử Lý Hệ Thống</a:t>
                      </a:r>
                    </a:p>
                  </a:txBody>
                  <a:tcPr anchor="ctr" marL="63500" marR="63500" marT="25400" marB="25400">
                    <a:lnL>
                      <a:noFill/>
                    </a:lnL>
                    <a:lnR>
                      <a:noFill/>
                    </a:lnR>
                    <a:lnT>
                      <a:noFill/>
                    </a:lnT>
                    <a:lnB>
                      <a:noFill/>
                    </a:lnB>
                    <a:solidFill>
                      <a:srgbClr val="1E293B"/>
                    </a:solidFill>
                  </a:tcPr>
                </a:tc>
                <a:tc>
                  <a:txBody>
                    <a:bodyPr/>
                    <a:lstStyle/>
                    <a:p>
                      <a:pPr algn="l"/>
                      <a:r>
                        <a:rPr b="1" sz="1200" i="0" u="none">
                          <a:solidFill>
                            <a:srgbClr val="FFFFFF"/>
                          </a:solidFill>
                          <a:latin typeface="Inter"/>
                        </a:rPr>
                        <a:t>Trạng Thái Đầu Ra</a:t>
                      </a:r>
                    </a:p>
                  </a:txBody>
                  <a:tcPr anchor="ctr" marL="63500" marR="63500" marT="25400" marB="25400">
                    <a:lnL>
                      <a:noFill/>
                    </a:lnL>
                    <a:lnR>
                      <a:noFill/>
                    </a:lnR>
                    <a:lnT>
                      <a:noFill/>
                    </a:lnT>
                    <a:lnB>
                      <a:noFill/>
                    </a:lnB>
                    <a:solidFill>
                      <a:srgbClr val="1E293B"/>
                    </a:solidFill>
                  </a:tcPr>
                </a:tc>
              </a:tr>
              <a:tr h="698413">
                <a:tc>
                  <a:txBody>
                    <a:bodyPr/>
                    <a:lstStyle/>
                    <a:p>
                      <a:pPr algn="l"/>
                      <a:r>
                        <a:rPr b="1" sz="1125" i="0" u="none">
                          <a:solidFill>
                            <a:srgbClr val="334155"/>
                          </a:solidFill>
                          <a:latin typeface="Inter"/>
                        </a:rPr>
                        <a:t>Sự kiện Tại Trường</a:t>
                      </a:r>
                      <a:r>
                        <a:rPr b="0" sz="1125" i="0" u="none">
                          <a:solidFill>
                            <a:srgbClr val="334155"/>
                          </a:solidFill>
                          <a:latin typeface="Inter"/>
                        </a:rPr>
                        <a:t> (Hội trường / Sân trường)</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Quét QR Động + Khóa tọa độ GPS Haversine (≤ 50m)</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Điểm danh thành công → Tự động sinh minh chứng ảo không cần chụp ảnh</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APPROVED</a:t>
                      </a:r>
                      <a:r>
                        <a:rPr b="0" sz="1125" i="0" u="none">
                          <a:solidFill>
                            <a:srgbClr val="334155"/>
                          </a:solidFill>
                          <a:latin typeface="Inter"/>
                        </a:rPr>
                        <a:t> (Trực tiếp)</a:t>
                      </a:r>
                    </a:p>
                  </a:txBody>
                  <a:tcPr anchor="ctr" marL="63500" marR="63500" marT="25400" marB="25400">
                    <a:lnL>
                      <a:noFill/>
                    </a:lnL>
                    <a:lnR>
                      <a:noFill/>
                    </a:lnR>
                    <a:lnT>
                      <a:noFill/>
                    </a:lnT>
                    <a:lnB>
                      <a:noFill/>
                    </a:lnB>
                    <a:noFill/>
                  </a:tcPr>
                </a:tc>
              </a:tr>
              <a:tr h="698413">
                <a:tc>
                  <a:txBody>
                    <a:bodyPr/>
                    <a:lstStyle/>
                    <a:p>
                      <a:pPr algn="l"/>
                      <a:r>
                        <a:rPr b="1" sz="1125" i="0" u="none">
                          <a:solidFill>
                            <a:srgbClr val="334155"/>
                          </a:solidFill>
                          <a:latin typeface="Inter"/>
                        </a:rPr>
                        <a:t>Sự kiện Ngoài Trường</a:t>
                      </a:r>
                      <a:r>
                        <a:rPr b="0" sz="1125" i="0" u="none">
                          <a:solidFill>
                            <a:srgbClr val="334155"/>
                          </a:solidFill>
                          <a:latin typeface="Inter"/>
                        </a:rPr>
                        <a:t> (Tình nguyện / Cuộc thi)</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Sinh viên tải ảnh chứng nhận hoặc tệp báo cáo (.pdf, .docx)</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Đưa qua bộ lọc AI Trinity (OCR, pHash, EXIF) kiểm tra an toàn</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APPROVED</a:t>
                      </a:r>
                      <a:r>
                        <a:rPr b="0" sz="1125" i="0" u="none">
                          <a:solidFill>
                            <a:srgbClr val="334155"/>
                          </a:solidFill>
                          <a:latin typeface="Inter"/>
                        </a:rPr>
                        <a:t> (Tự động)</a:t>
                      </a:r>
                    </a:p>
                  </a:txBody>
                  <a:tcPr anchor="ctr" marL="63500" marR="63500" marT="25400" marB="25400">
                    <a:lnL>
                      <a:noFill/>
                    </a:lnL>
                    <a:lnR>
                      <a:noFill/>
                    </a:lnR>
                    <a:lnT>
                      <a:noFill/>
                    </a:lnT>
                    <a:lnB>
                      <a:noFill/>
                    </a:lnB>
                    <a:solidFill>
                      <a:srgbClr val="F8FAFC"/>
                    </a:solidFill>
                  </a:tcPr>
                </a:tc>
              </a:tr>
              <a:tr h="698413">
                <a:tc>
                  <a:txBody>
                    <a:bodyPr/>
                    <a:lstStyle/>
                    <a:p>
                      <a:pPr algn="l"/>
                      <a:r>
                        <a:rPr b="1" sz="1125" i="0" u="none">
                          <a:solidFill>
                            <a:srgbClr val="334155"/>
                          </a:solidFill>
                          <a:latin typeface="Inter"/>
                        </a:rPr>
                        <a:t>Nghi Vấn / Bắt Buộc</a:t>
                      </a:r>
                      <a:r>
                        <a:rPr b="0" sz="1125" i="0" u="none">
                          <a:solidFill>
                            <a:srgbClr val="334155"/>
                          </a:solidFill>
                          <a:latin typeface="Inter"/>
                        </a:rPr>
                        <a:t> (Có cờ cảnh báo)</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AI phát hiện thuộc tính Photoshop, ảnh mờ hoặc trùng pHash</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Chuyển hồ sơ vào hàng chờ kiểm duyệt thủ công kèm lý do mớm sẵn</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PENDING</a:t>
                      </a:r>
                      <a:r>
                        <a:rPr b="0" sz="1125" i="0" u="none">
                          <a:solidFill>
                            <a:srgbClr val="334155"/>
                          </a:solidFill>
                          <a:latin typeface="Inter"/>
                        </a:rPr>
                        <a:t> (Chờ cán bộ)</a:t>
                      </a:r>
                    </a:p>
                  </a:txBody>
                  <a:tcPr anchor="ctr" marL="63500" marR="63500" marT="25400" marB="25400">
                    <a:lnL>
                      <a:noFill/>
                    </a:lnL>
                    <a:lnR>
                      <a:noFill/>
                    </a:lnR>
                    <a:lnT>
                      <a:noFill/>
                    </a:lnT>
                    <a:lnB>
                      <a:noFill/>
                    </a:lnB>
                    <a:noFill/>
                  </a:tcPr>
                </a:tc>
              </a:tr>
            </a:tbl>
          </a:graphicData>
        </a:graphic>
      </p:graphicFrame>
      <p:sp>
        <p:nvSpPr>
          <p:cNvPr id="5" name="Rectangle 4"/>
          <p:cNvSpPr/>
          <p:nvPr/>
        </p:nvSpPr>
        <p:spPr>
          <a:xfrm>
            <a:off x="585787" y="2987426"/>
            <a:ext cx="2467867"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53655" y="2987426"/>
            <a:ext cx="3124051"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77706" y="2987426"/>
            <a:ext cx="3597473"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775180" y="2987426"/>
            <a:ext cx="1831032"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85787" y="3754189"/>
            <a:ext cx="2467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53655" y="3754189"/>
            <a:ext cx="31240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7706" y="3754189"/>
            <a:ext cx="35974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775180" y="3754189"/>
            <a:ext cx="18310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5787" y="4492376"/>
            <a:ext cx="2467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53655" y="4492376"/>
            <a:ext cx="31240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7706" y="4492376"/>
            <a:ext cx="35974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75180" y="4492376"/>
            <a:ext cx="18310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787" y="5230564"/>
            <a:ext cx="246786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53655" y="5230564"/>
            <a:ext cx="31240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7706" y="5230564"/>
            <a:ext cx="35974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775180" y="5230564"/>
            <a:ext cx="18310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9965680" y="3144589"/>
            <a:ext cx="1000125" cy="276225"/>
          </a:xfrm>
          <a:prstGeom prst="rect">
            <a:avLst/>
          </a:prstGeom>
        </p:spPr>
      </p:pic>
      <p:pic>
        <p:nvPicPr>
          <p:cNvPr id="22" name="Picture 21" descr="image.png"/>
          <p:cNvPicPr>
            <a:picLocks noChangeAspect="1"/>
          </p:cNvPicPr>
          <p:nvPr/>
        </p:nvPicPr>
        <p:blipFill>
          <a:blip r:embed="rId4"/>
          <a:stretch>
            <a:fillRect/>
          </a:stretch>
        </p:blipFill>
        <p:spPr>
          <a:xfrm>
            <a:off x="9965680" y="3882776"/>
            <a:ext cx="1000125" cy="276225"/>
          </a:xfrm>
          <a:prstGeom prst="rect">
            <a:avLst/>
          </a:prstGeom>
        </p:spPr>
      </p:pic>
      <p:pic>
        <p:nvPicPr>
          <p:cNvPr id="23" name="Picture 22" descr="image.png"/>
          <p:cNvPicPr>
            <a:picLocks noChangeAspect="1"/>
          </p:cNvPicPr>
          <p:nvPr/>
        </p:nvPicPr>
        <p:blipFill>
          <a:blip r:embed="rId5"/>
          <a:stretch>
            <a:fillRect/>
          </a:stretch>
        </p:blipFill>
        <p:spPr>
          <a:xfrm>
            <a:off x="9965680" y="4620964"/>
            <a:ext cx="847725" cy="276225"/>
          </a:xfrm>
          <a:prstGeom prst="rect">
            <a:avLst/>
          </a:prstGeom>
        </p:spPr>
      </p:pic>
      <p:sp>
        <p:nvSpPr>
          <p:cNvPr id="24" name="TextBox 23"/>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Ma Trận 3 Luồng Kiểm Duyệt Minh Chứng</a:t>
            </a:r>
          </a:p>
        </p:txBody>
      </p:sp>
      <p:sp>
        <p:nvSpPr>
          <p:cNvPr id="25" name="Rectangle 24"/>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190154"/>
            <a:ext cx="5348287" cy="3315890"/>
          </a:xfrm>
          <a:prstGeom prst="rect">
            <a:avLst/>
          </a:prstGeom>
        </p:spPr>
      </p:pic>
      <p:pic>
        <p:nvPicPr>
          <p:cNvPr id="3" name="Picture 2" descr="image.png"/>
          <p:cNvPicPr>
            <a:picLocks noChangeAspect="1"/>
          </p:cNvPicPr>
          <p:nvPr/>
        </p:nvPicPr>
        <p:blipFill>
          <a:blip r:embed="rId3"/>
          <a:stretch>
            <a:fillRect/>
          </a:stretch>
        </p:blipFill>
        <p:spPr>
          <a:xfrm>
            <a:off x="6262687" y="2190154"/>
            <a:ext cx="5348287" cy="3315890"/>
          </a:xfrm>
          <a:prstGeom prst="rect">
            <a:avLst/>
          </a:prstGeom>
        </p:spPr>
      </p:pic>
      <p:pic>
        <p:nvPicPr>
          <p:cNvPr id="4" name="Picture 3" descr="image.png"/>
          <p:cNvPicPr>
            <a:picLocks noChangeAspect="1"/>
          </p:cNvPicPr>
          <p:nvPr/>
        </p:nvPicPr>
        <p:blipFill>
          <a:blip r:embed="rId4"/>
          <a:stretch>
            <a:fillRect/>
          </a:stretch>
        </p:blipFill>
        <p:spPr>
          <a:xfrm>
            <a:off x="581025" y="519112"/>
            <a:ext cx="304800" cy="342900"/>
          </a:xfrm>
          <a:prstGeom prst="rect">
            <a:avLst/>
          </a:prstGeom>
        </p:spPr>
      </p:pic>
      <p:sp>
        <p:nvSpPr>
          <p:cNvPr id="5" name="TextBox 4"/>
          <p:cNvSpPr txBox="1"/>
          <p:nvPr/>
        </p:nvSpPr>
        <p:spPr>
          <a:xfrm>
            <a:off x="1257300" y="2485429"/>
            <a:ext cx="4595574" cy="257175"/>
          </a:xfrm>
          <a:prstGeom prst="rect">
            <a:avLst/>
          </a:prstGeom>
          <a:noFill/>
        </p:spPr>
        <p:txBody>
          <a:bodyPr wrap="square" lIns="0" rIns="0" tIns="0" bIns="0" anchor="ctr">
            <a:spAutoFit/>
          </a:bodyPr>
          <a:lstStyle/>
          <a:p>
            <a:pPr algn="l"/>
            <a:r>
              <a:rPr b="1" sz="1650" i="0" u="none">
                <a:solidFill>
                  <a:srgbClr val="0F172A"/>
                </a:solidFill>
                <a:latin typeface="Urbanist"/>
              </a:rPr>
              <a:t>Cơ Chế MySQL Database Trigger</a:t>
            </a:r>
          </a:p>
        </p:txBody>
      </p:sp>
      <p:sp>
        <p:nvSpPr>
          <p:cNvPr id="6" name="TextBox 5"/>
          <p:cNvSpPr txBox="1"/>
          <p:nvPr/>
        </p:nvSpPr>
        <p:spPr>
          <a:xfrm>
            <a:off x="876300" y="2856904"/>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0" sz="1350" i="0" u="none">
                <a:solidFill>
                  <a:srgbClr val="334155"/>
                </a:solidFill>
                <a:latin typeface="Inter"/>
              </a:rPr>
              <a:t>trg_proof_approved_insert</a:t>
            </a:r>
            <a:r>
              <a:rPr b="0" sz="1350" i="0" u="none">
                <a:solidFill>
                  <a:srgbClr val="334155"/>
                </a:solidFill>
                <a:latin typeface="Inter"/>
              </a:rPr>
              <a:t>: Tự động tính toán điểm rèn luyện và cộng trực tiếp vào ví điểm của sinh viên ngay khi minh chứng chuyển sang </a:t>
            </a:r>
            <a:r>
              <a:rPr b="1" sz="1350" i="0" u="none">
                <a:solidFill>
                  <a:srgbClr val="334155"/>
                </a:solidFill>
                <a:latin typeface="Inter"/>
              </a:rPr>
              <a:t>'APPROVED'</a:t>
            </a:r>
            <a:r>
              <a:rPr b="0" sz="1350" i="0" u="none">
                <a:solidFill>
                  <a:srgbClr val="334155"/>
                </a:solidFill>
                <a:latin typeface="Inter"/>
              </a:rPr>
              <a:t>.</a:t>
            </a:r>
          </a:p>
        </p:txBody>
      </p:sp>
      <p:sp>
        <p:nvSpPr>
          <p:cNvPr id="7" name="TextBox 6"/>
          <p:cNvSpPr txBox="1"/>
          <p:nvPr/>
        </p:nvSpPr>
        <p:spPr>
          <a:xfrm>
            <a:off x="876300" y="3768179"/>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0" sz="1350" i="0" u="none">
                <a:solidFill>
                  <a:srgbClr val="334155"/>
                </a:solidFill>
                <a:latin typeface="Inter"/>
              </a:rPr>
              <a:t>trg_proof_approved_update</a:t>
            </a:r>
            <a:r>
              <a:rPr b="0" sz="1350" i="0" u="none">
                <a:solidFill>
                  <a:srgbClr val="334155"/>
                </a:solidFill>
                <a:latin typeface="Inter"/>
              </a:rPr>
              <a:t>: Tự động trừ lại đúng số điểm rèn luyện đã cộng nếu cán bộ thực hiện thao tác </a:t>
            </a:r>
            <a:r>
              <a:rPr b="1" sz="1350" i="0" u="none">
                <a:solidFill>
                  <a:srgbClr val="334155"/>
                </a:solidFill>
                <a:latin typeface="Inter"/>
              </a:rPr>
              <a:t>'HỦY DUYỆT'</a:t>
            </a:r>
            <a:r>
              <a:rPr b="0" sz="1350" i="0" u="none">
                <a:solidFill>
                  <a:srgbClr val="334155"/>
                </a:solidFill>
                <a:latin typeface="Inter"/>
              </a:rPr>
              <a:t> hồ sơ.</a:t>
            </a:r>
          </a:p>
        </p:txBody>
      </p:sp>
      <p:sp>
        <p:nvSpPr>
          <p:cNvPr id="8" name="TextBox 7"/>
          <p:cNvSpPr txBox="1"/>
          <p:nvPr/>
        </p:nvSpPr>
        <p:spPr>
          <a:xfrm>
            <a:off x="876300" y="4679453"/>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Đảm bảo tính toàn vẹn và nhất quán dữ liệu tuyệt đối theo tiêu chuẩn giao dịch ACID.</a:t>
            </a:r>
          </a:p>
        </p:txBody>
      </p:sp>
      <p:sp>
        <p:nvSpPr>
          <p:cNvPr id="9" name="TextBox 8"/>
          <p:cNvSpPr txBox="1"/>
          <p:nvPr/>
        </p:nvSpPr>
        <p:spPr>
          <a:xfrm>
            <a:off x="6881812" y="2485429"/>
            <a:ext cx="4655581" cy="257175"/>
          </a:xfrm>
          <a:prstGeom prst="rect">
            <a:avLst/>
          </a:prstGeom>
          <a:noFill/>
        </p:spPr>
        <p:txBody>
          <a:bodyPr wrap="square" lIns="0" rIns="0" tIns="0" bIns="0" anchor="ctr">
            <a:spAutoFit/>
          </a:bodyPr>
          <a:lstStyle/>
          <a:p>
            <a:pPr algn="l"/>
            <a:r>
              <a:rPr b="1" sz="1650" i="0" u="none">
                <a:solidFill>
                  <a:srgbClr val="0F172A"/>
                </a:solidFill>
                <a:latin typeface="Urbanist"/>
              </a:rPr>
              <a:t>Kiểm Soát Giới Hạn Trần Điểm</a:t>
            </a:r>
          </a:p>
        </p:txBody>
      </p:sp>
      <p:sp>
        <p:nvSpPr>
          <p:cNvPr id="10" name="TextBox 9"/>
          <p:cNvSpPr txBox="1"/>
          <p:nvPr/>
        </p:nvSpPr>
        <p:spPr>
          <a:xfrm>
            <a:off x="6557962" y="2856904"/>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Mọi thao tác cộng điểm trong Trigger đều được kiểm soát bởi trần điểm tối đa cấu hình cho từng nhóm tiêu chí (Ví dụ: Tiêu chí I tối đa 20 điểm).</a:t>
            </a:r>
          </a:p>
        </p:txBody>
      </p:sp>
      <p:sp>
        <p:nvSpPr>
          <p:cNvPr id="11" name="TextBox 10"/>
          <p:cNvSpPr txBox="1"/>
          <p:nvPr/>
        </p:nvSpPr>
        <p:spPr>
          <a:xfrm>
            <a:off x="6557962" y="3768179"/>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Ngăn chặn tình trạng sinh viên tích lũy thừa điểm của một nhóm tiêu chí để gian lận tổng điểm rèn luyện.</a:t>
            </a:r>
          </a:p>
        </p:txBody>
      </p:sp>
      <p:sp>
        <p:nvSpPr>
          <p:cNvPr id="12" name="TextBox 11"/>
          <p:cNvSpPr txBox="1"/>
          <p:nvPr/>
        </p:nvSpPr>
        <p:spPr>
          <a:xfrm>
            <a:off x="6557962" y="4413795"/>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Đồng bộ hóa ví điểm tức thời hiển thị trên ứng dụng di động của sinh viên.</a:t>
            </a:r>
          </a:p>
        </p:txBody>
      </p:sp>
      <p:pic>
        <p:nvPicPr>
          <p:cNvPr id="13" name="Picture 12" descr="image.png"/>
          <p:cNvPicPr>
            <a:picLocks noChangeAspect="1"/>
          </p:cNvPicPr>
          <p:nvPr/>
        </p:nvPicPr>
        <p:blipFill>
          <a:blip r:embed="rId5"/>
          <a:stretch>
            <a:fillRect/>
          </a:stretch>
        </p:blipFill>
        <p:spPr>
          <a:xfrm>
            <a:off x="876300" y="2509242"/>
            <a:ext cx="266700" cy="209550"/>
          </a:xfrm>
          <a:prstGeom prst="rect">
            <a:avLst/>
          </a:prstGeom>
        </p:spPr>
      </p:pic>
      <p:pic>
        <p:nvPicPr>
          <p:cNvPr id="14" name="Picture 13" descr="image.png"/>
          <p:cNvPicPr>
            <a:picLocks noChangeAspect="1"/>
          </p:cNvPicPr>
          <p:nvPr/>
        </p:nvPicPr>
        <p:blipFill>
          <a:blip r:embed="rId6"/>
          <a:stretch>
            <a:fillRect/>
          </a:stretch>
        </p:blipFill>
        <p:spPr>
          <a:xfrm>
            <a:off x="6557962" y="2509242"/>
            <a:ext cx="209550" cy="209550"/>
          </a:xfrm>
          <a:prstGeom prst="rect">
            <a:avLst/>
          </a:prstGeom>
        </p:spPr>
      </p:pic>
      <p:sp>
        <p:nvSpPr>
          <p:cNvPr id="15" name="TextBox 14"/>
          <p:cNvSpPr txBox="1"/>
          <p:nvPr/>
        </p:nvSpPr>
        <p:spPr>
          <a:xfrm>
            <a:off x="1028700" y="485775"/>
            <a:ext cx="11111388" cy="438150"/>
          </a:xfrm>
          <a:prstGeom prst="rect">
            <a:avLst/>
          </a:prstGeom>
          <a:noFill/>
        </p:spPr>
        <p:txBody>
          <a:bodyPr wrap="square" lIns="0" rIns="0" tIns="0" bIns="0" anchor="ctr">
            <a:spAutoFit/>
          </a:bodyPr>
          <a:lstStyle/>
          <a:p>
            <a:pPr algn="l"/>
            <a:r>
              <a:rPr b="1" sz="2700" i="0" u="none">
                <a:solidFill>
                  <a:srgbClr val="0F172A"/>
                </a:solidFill>
                <a:latin typeface="Urbanist"/>
              </a:rPr>
              <a:t>Tự Động Hóa Vật Lý Dưới Cơ Sở Dữ Liệu</a:t>
            </a:r>
          </a:p>
        </p:txBody>
      </p:sp>
      <p:sp>
        <p:nvSpPr>
          <p:cNvPr id="16" name="Rectangle 15"/>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355205"/>
            <a:ext cx="3517850" cy="2985641"/>
          </a:xfrm>
          <a:prstGeom prst="rect">
            <a:avLst/>
          </a:prstGeom>
        </p:spPr>
      </p:pic>
      <p:pic>
        <p:nvPicPr>
          <p:cNvPr id="3" name="Picture 2" descr="image.png"/>
          <p:cNvPicPr>
            <a:picLocks noChangeAspect="1"/>
          </p:cNvPicPr>
          <p:nvPr/>
        </p:nvPicPr>
        <p:blipFill>
          <a:blip r:embed="rId3"/>
          <a:stretch>
            <a:fillRect/>
          </a:stretch>
        </p:blipFill>
        <p:spPr>
          <a:xfrm>
            <a:off x="4337000" y="2355205"/>
            <a:ext cx="3517850" cy="2985641"/>
          </a:xfrm>
          <a:prstGeom prst="rect">
            <a:avLst/>
          </a:prstGeom>
        </p:spPr>
      </p:pic>
      <p:pic>
        <p:nvPicPr>
          <p:cNvPr id="4" name="Picture 3" descr="image.png"/>
          <p:cNvPicPr>
            <a:picLocks noChangeAspect="1"/>
          </p:cNvPicPr>
          <p:nvPr/>
        </p:nvPicPr>
        <p:blipFill>
          <a:blip r:embed="rId4"/>
          <a:stretch>
            <a:fillRect/>
          </a:stretch>
        </p:blipFill>
        <p:spPr>
          <a:xfrm>
            <a:off x="8092975" y="2355205"/>
            <a:ext cx="3517850" cy="2985641"/>
          </a:xfrm>
          <a:prstGeom prst="rect">
            <a:avLst/>
          </a:prstGeom>
        </p:spPr>
      </p:pic>
      <p:pic>
        <p:nvPicPr>
          <p:cNvPr id="5" name="Picture 4" descr="image.png"/>
          <p:cNvPicPr>
            <a:picLocks noChangeAspect="1"/>
          </p:cNvPicPr>
          <p:nvPr/>
        </p:nvPicPr>
        <p:blipFill>
          <a:blip r:embed="rId5"/>
          <a:stretch>
            <a:fillRect/>
          </a:stretch>
        </p:blipFill>
        <p:spPr>
          <a:xfrm>
            <a:off x="581025" y="519112"/>
            <a:ext cx="428625" cy="342900"/>
          </a:xfrm>
          <a:prstGeom prst="rect">
            <a:avLst/>
          </a:prstGeom>
        </p:spPr>
      </p:pic>
      <p:pic>
        <p:nvPicPr>
          <p:cNvPr id="6" name="Picture 5" descr="image.png"/>
          <p:cNvPicPr>
            <a:picLocks noChangeAspect="1"/>
          </p:cNvPicPr>
          <p:nvPr/>
        </p:nvPicPr>
        <p:blipFill>
          <a:blip r:embed="rId6"/>
          <a:stretch>
            <a:fillRect/>
          </a:stretch>
        </p:blipFill>
        <p:spPr>
          <a:xfrm>
            <a:off x="828675" y="2650480"/>
            <a:ext cx="571500" cy="571500"/>
          </a:xfrm>
          <a:prstGeom prst="rect">
            <a:avLst/>
          </a:prstGeom>
        </p:spPr>
      </p:pic>
      <p:sp>
        <p:nvSpPr>
          <p:cNvPr id="7" name="TextBox 6"/>
          <p:cNvSpPr txBox="1"/>
          <p:nvPr/>
        </p:nvSpPr>
        <p:spPr>
          <a:xfrm>
            <a:off x="82867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1. SuperAdmin / Admin</a:t>
            </a:r>
          </a:p>
        </p:txBody>
      </p:sp>
      <p:sp>
        <p:nvSpPr>
          <p:cNvPr id="8" name="TextBox 7"/>
          <p:cNvSpPr txBox="1"/>
          <p:nvPr/>
        </p:nvSpPr>
        <p:spPr>
          <a:xfrm>
            <a:off x="82867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Toàn quyền quản trị hệ thống, cấu hình tham số thuật toán AI, quản lý cây tiêu chí rèn luyện, cấp quyền cán bộ và xuất báo cáo Excel toàn trường.</a:t>
            </a:r>
          </a:p>
        </p:txBody>
      </p:sp>
      <p:pic>
        <p:nvPicPr>
          <p:cNvPr id="9" name="Picture 8" descr="image.png"/>
          <p:cNvPicPr>
            <a:picLocks noChangeAspect="1"/>
          </p:cNvPicPr>
          <p:nvPr/>
        </p:nvPicPr>
        <p:blipFill>
          <a:blip r:embed="rId7"/>
          <a:stretch>
            <a:fillRect/>
          </a:stretch>
        </p:blipFill>
        <p:spPr>
          <a:xfrm>
            <a:off x="4584650" y="2650480"/>
            <a:ext cx="571500" cy="571500"/>
          </a:xfrm>
          <a:prstGeom prst="rect">
            <a:avLst/>
          </a:prstGeom>
        </p:spPr>
      </p:pic>
      <p:sp>
        <p:nvSpPr>
          <p:cNvPr id="10" name="TextBox 9"/>
          <p:cNvSpPr txBox="1"/>
          <p:nvPr/>
        </p:nvSpPr>
        <p:spPr>
          <a:xfrm>
            <a:off x="4584650"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2. Ban Cán Sự Lớp</a:t>
            </a:r>
          </a:p>
        </p:txBody>
      </p:sp>
      <p:sp>
        <p:nvSpPr>
          <p:cNvPr id="11" name="TextBox 10"/>
          <p:cNvSpPr txBox="1"/>
          <p:nvPr/>
        </p:nvSpPr>
        <p:spPr>
          <a:xfrm>
            <a:off x="4584650" y="3717280"/>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Được ủy quyền duyệt minh chứng và xem lịch sử rèn luyện của sinh viên trong phạm vi Chi đoàn/Lớp quản lý, giảm tải 80% áp lực cho Đoàn khoa.</a:t>
            </a:r>
          </a:p>
        </p:txBody>
      </p:sp>
      <p:pic>
        <p:nvPicPr>
          <p:cNvPr id="12" name="Picture 11" descr="image.png"/>
          <p:cNvPicPr>
            <a:picLocks noChangeAspect="1"/>
          </p:cNvPicPr>
          <p:nvPr/>
        </p:nvPicPr>
        <p:blipFill>
          <a:blip r:embed="rId8"/>
          <a:stretch>
            <a:fillRect/>
          </a:stretch>
        </p:blipFill>
        <p:spPr>
          <a:xfrm>
            <a:off x="8340625" y="2650480"/>
            <a:ext cx="571500" cy="571500"/>
          </a:xfrm>
          <a:prstGeom prst="rect">
            <a:avLst/>
          </a:prstGeom>
        </p:spPr>
      </p:pic>
      <p:sp>
        <p:nvSpPr>
          <p:cNvPr id="13" name="TextBox 12"/>
          <p:cNvSpPr txBox="1"/>
          <p:nvPr/>
        </p:nvSpPr>
        <p:spPr>
          <a:xfrm>
            <a:off x="834062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3. Sinh Viên</a:t>
            </a:r>
          </a:p>
        </p:txBody>
      </p:sp>
      <p:sp>
        <p:nvSpPr>
          <p:cNvPr id="14" name="TextBox 13"/>
          <p:cNvSpPr txBox="1"/>
          <p:nvPr/>
        </p:nvSpPr>
        <p:spPr>
          <a:xfrm>
            <a:off x="8340625" y="3717280"/>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Sử dụng ứng dụng di động để theo dõi ví điểm, đăng ký sự kiện, điểm danh quét QR/GPS và tải lên minh chứng ngoại khóa cá nhân.</a:t>
            </a:r>
          </a:p>
        </p:txBody>
      </p:sp>
      <p:pic>
        <p:nvPicPr>
          <p:cNvPr id="15" name="Picture 14" descr="image.png"/>
          <p:cNvPicPr>
            <a:picLocks noChangeAspect="1"/>
          </p:cNvPicPr>
          <p:nvPr/>
        </p:nvPicPr>
        <p:blipFill>
          <a:blip r:embed="rId9"/>
          <a:stretch>
            <a:fillRect/>
          </a:stretch>
        </p:blipFill>
        <p:spPr>
          <a:xfrm>
            <a:off x="933450" y="2793355"/>
            <a:ext cx="361950" cy="285750"/>
          </a:xfrm>
          <a:prstGeom prst="rect">
            <a:avLst/>
          </a:prstGeom>
        </p:spPr>
      </p:pic>
      <p:pic>
        <p:nvPicPr>
          <p:cNvPr id="16" name="Picture 15" descr="image.png"/>
          <p:cNvPicPr>
            <a:picLocks noChangeAspect="1"/>
          </p:cNvPicPr>
          <p:nvPr/>
        </p:nvPicPr>
        <p:blipFill>
          <a:blip r:embed="rId10"/>
          <a:stretch>
            <a:fillRect/>
          </a:stretch>
        </p:blipFill>
        <p:spPr>
          <a:xfrm>
            <a:off x="4689425" y="2793355"/>
            <a:ext cx="361950" cy="285750"/>
          </a:xfrm>
          <a:prstGeom prst="rect">
            <a:avLst/>
          </a:prstGeom>
        </p:spPr>
      </p:pic>
      <p:pic>
        <p:nvPicPr>
          <p:cNvPr id="17" name="Picture 16" descr="image.png"/>
          <p:cNvPicPr>
            <a:picLocks noChangeAspect="1"/>
          </p:cNvPicPr>
          <p:nvPr/>
        </p:nvPicPr>
        <p:blipFill>
          <a:blip r:embed="rId11"/>
          <a:stretch>
            <a:fillRect/>
          </a:stretch>
        </p:blipFill>
        <p:spPr>
          <a:xfrm>
            <a:off x="8502550" y="2793355"/>
            <a:ext cx="247650" cy="285750"/>
          </a:xfrm>
          <a:prstGeom prst="rect">
            <a:avLst/>
          </a:prstGeom>
        </p:spPr>
      </p:pic>
      <p:sp>
        <p:nvSpPr>
          <p:cNvPr id="18" name="TextBox 17"/>
          <p:cNvSpPr txBox="1"/>
          <p:nvPr/>
        </p:nvSpPr>
        <p:spPr>
          <a:xfrm>
            <a:off x="1152525" y="485775"/>
            <a:ext cx="10981372" cy="438150"/>
          </a:xfrm>
          <a:prstGeom prst="rect">
            <a:avLst/>
          </a:prstGeom>
          <a:noFill/>
        </p:spPr>
        <p:txBody>
          <a:bodyPr wrap="square" lIns="0" rIns="0" tIns="0" bIns="0" anchor="ctr">
            <a:spAutoFit/>
          </a:bodyPr>
          <a:lstStyle/>
          <a:p>
            <a:pPr algn="l"/>
            <a:r>
              <a:rPr b="1" sz="2700" i="0" u="none">
                <a:solidFill>
                  <a:srgbClr val="0F172A"/>
                </a:solidFill>
                <a:latin typeface="Urbanist"/>
              </a:rPr>
              <a:t>Mô Hình Phân Quyền Dựa Trên Vai Trò (RBAC)</a:t>
            </a:r>
          </a:p>
        </p:txBody>
      </p:sp>
      <p:sp>
        <p:nvSpPr>
          <p:cNvPr id="19" name="Rectangle 18"/>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519112"/>
            <a:ext cx="304800" cy="342900"/>
          </a:xfrm>
          <a:prstGeom prst="rect">
            <a:avLst/>
          </a:prstGeom>
        </p:spPr>
      </p:pic>
      <p:sp>
        <p:nvSpPr>
          <p:cNvPr id="3" name="Rounded Rectangle 2"/>
          <p:cNvSpPr/>
          <p:nvPr/>
        </p:nvSpPr>
        <p:spPr>
          <a:xfrm>
            <a:off x="581025" y="1905892"/>
            <a:ext cx="11029950" cy="388426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81025" y="1905892"/>
          <a:ext cx="11020423" cy="3884265"/>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357883"/>
                <a:gridCol w="2678906"/>
                <a:gridCol w="5983634"/>
              </a:tblGrid>
              <a:tr h="647377">
                <a:tc>
                  <a:txBody>
                    <a:bodyPr/>
                    <a:lstStyle/>
                    <a:p>
                      <a:pPr algn="l"/>
                      <a:r>
                        <a:rPr b="1" sz="1200" i="0" u="none">
                          <a:solidFill>
                            <a:srgbClr val="FFFFFF"/>
                          </a:solidFill>
                          <a:latin typeface="Inter"/>
                        </a:rPr>
                        <a:t>Tên Bảng (Table)</a:t>
                      </a:r>
                    </a:p>
                  </a:txBody>
                  <a:tcPr anchor="ctr" marL="63500" marR="63500" marT="25400" marB="25400">
                    <a:lnL>
                      <a:noFill/>
                    </a:lnL>
                    <a:lnR>
                      <a:noFill/>
                    </a:lnR>
                    <a:lnT>
                      <a:noFill/>
                    </a:lnT>
                    <a:lnB>
                      <a:noFill/>
                    </a:lnB>
                    <a:solidFill>
                      <a:srgbClr val="1E293B"/>
                    </a:solidFill>
                  </a:tcPr>
                </a:tc>
                <a:tc>
                  <a:txBody>
                    <a:bodyPr/>
                    <a:lstStyle/>
                    <a:p>
                      <a:pPr algn="l"/>
                      <a:r>
                        <a:rPr b="1" sz="1200" i="0" u="none">
                          <a:solidFill>
                            <a:srgbClr val="FFFFFF"/>
                          </a:solidFill>
                          <a:latin typeface="Inter"/>
                        </a:rPr>
                        <a:t>Khóa Chính / Khóa Ngoại</a:t>
                      </a:r>
                    </a:p>
                  </a:txBody>
                  <a:tcPr anchor="ctr" marL="63500" marR="63500" marT="25400" marB="25400">
                    <a:lnL>
                      <a:noFill/>
                    </a:lnL>
                    <a:lnR>
                      <a:noFill/>
                    </a:lnR>
                    <a:lnT>
                      <a:noFill/>
                    </a:lnT>
                    <a:lnB>
                      <a:noFill/>
                    </a:lnB>
                    <a:solidFill>
                      <a:srgbClr val="1E293B"/>
                    </a:solidFill>
                  </a:tcPr>
                </a:tc>
                <a:tc>
                  <a:txBody>
                    <a:bodyPr/>
                    <a:lstStyle/>
                    <a:p>
                      <a:pPr algn="l"/>
                      <a:r>
                        <a:rPr b="1" sz="1200" i="0" u="none">
                          <a:solidFill>
                            <a:srgbClr val="FFFFFF"/>
                          </a:solidFill>
                          <a:latin typeface="Inter"/>
                        </a:rPr>
                        <a:t>Chức Năng &amp; Nhiệm Vụ Quản Lý</a:t>
                      </a:r>
                    </a:p>
                  </a:txBody>
                  <a:tcPr anchor="ctr" marL="63500" marR="63500" marT="25400" marB="25400">
                    <a:lnL>
                      <a:noFill/>
                    </a:lnL>
                    <a:lnR>
                      <a:noFill/>
                    </a:lnR>
                    <a:lnT>
                      <a:noFill/>
                    </a:lnT>
                    <a:lnB>
                      <a:noFill/>
                    </a:lnB>
                    <a:solidFill>
                      <a:srgbClr val="1E293B"/>
                    </a:solidFill>
                  </a:tcPr>
                </a:tc>
              </a:tr>
              <a:tr h="647377">
                <a:tc>
                  <a:txBody>
                    <a:bodyPr/>
                    <a:lstStyle/>
                    <a:p>
                      <a:pPr algn="l"/>
                      <a:r>
                        <a:rPr b="0" sz="1125" i="0" u="none">
                          <a:solidFill>
                            <a:srgbClr val="334155"/>
                          </a:solidFill>
                          <a:latin typeface="Inter"/>
                        </a:rPr>
                        <a:t>users</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PK: </a:t>
                      </a:r>
                      <a:r>
                        <a:rPr b="0" sz="1125" i="0" u="none">
                          <a:solidFill>
                            <a:srgbClr val="334155"/>
                          </a:solidFill>
                          <a:latin typeface="Inter"/>
                        </a:rPr>
                        <a:t>id</a:t>
                      </a:r>
                      <a:r>
                        <a:rPr b="0" sz="1125" i="0" u="none">
                          <a:solidFill>
                            <a:srgbClr val="334155"/>
                          </a:solidFill>
                          <a:latin typeface="Inter"/>
                        </a:rPr>
                        <a:t> | FK: </a:t>
                      </a:r>
                      <a:r>
                        <a:rPr b="0" sz="1125" i="0" u="none">
                          <a:solidFill>
                            <a:srgbClr val="334155"/>
                          </a:solidFill>
                          <a:latin typeface="Inter"/>
                        </a:rPr>
                        <a:t>faculty</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Lưu trữ thông tin sinh viên, cán bộ, vai trò (role) và ví điểm rèn luyện tổng lũy kế.</a:t>
                      </a:r>
                    </a:p>
                  </a:txBody>
                  <a:tcPr anchor="ctr" marL="63500" marR="63500" marT="25400" marB="25400">
                    <a:lnL>
                      <a:noFill/>
                    </a:lnL>
                    <a:lnR>
                      <a:noFill/>
                    </a:lnR>
                    <a:lnT>
                      <a:noFill/>
                    </a:lnT>
                    <a:lnB>
                      <a:noFill/>
                    </a:lnB>
                    <a:noFill/>
                  </a:tcPr>
                </a:tc>
              </a:tr>
              <a:tr h="647377">
                <a:tc>
                  <a:txBody>
                    <a:bodyPr/>
                    <a:lstStyle/>
                    <a:p>
                      <a:pPr algn="l"/>
                      <a:r>
                        <a:rPr b="0" sz="1125" i="0" u="none">
                          <a:solidFill>
                            <a:srgbClr val="334155"/>
                          </a:solidFill>
                          <a:latin typeface="Inter"/>
                        </a:rPr>
                        <a:t>events</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PK: </a:t>
                      </a:r>
                      <a:r>
                        <a:rPr b="0" sz="1125" i="0" u="none">
                          <a:solidFill>
                            <a:srgbClr val="334155"/>
                          </a:solidFill>
                          <a:latin typeface="Inter"/>
                        </a:rPr>
                        <a:t>id</a:t>
                      </a:r>
                      <a:r>
                        <a:rPr b="0" sz="1125" i="0" u="none">
                          <a:solidFill>
                            <a:srgbClr val="334155"/>
                          </a:solidFill>
                          <a:latin typeface="Inter"/>
                        </a:rPr>
                        <a:t> | FK: </a:t>
                      </a:r>
                      <a:r>
                        <a:rPr b="0" sz="1125" i="0" u="none">
                          <a:solidFill>
                            <a:srgbClr val="334155"/>
                          </a:solidFill>
                          <a:latin typeface="Inter"/>
                        </a:rPr>
                        <a:t>category</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Chứa thông tin sự kiện, tọa độ GPS mẫu, hạn ngạch ngành học (</a:t>
                      </a:r>
                      <a:r>
                        <a:rPr b="0" sz="1125" i="0" u="none">
                          <a:solidFill>
                            <a:srgbClr val="334155"/>
                          </a:solidFill>
                          <a:latin typeface="Inter"/>
                        </a:rPr>
                        <a:t>faculty_limits</a:t>
                      </a:r>
                      <a:r>
                        <a:rPr b="0" sz="1125" i="0" u="none">
                          <a:solidFill>
                            <a:srgbClr val="334155"/>
                          </a:solidFill>
                          <a:latin typeface="Inter"/>
                        </a:rPr>
                        <a:t>).</a:t>
                      </a:r>
                    </a:p>
                  </a:txBody>
                  <a:tcPr anchor="ctr" marL="63500" marR="63500" marT="25400" marB="25400">
                    <a:lnL>
                      <a:noFill/>
                    </a:lnL>
                    <a:lnR>
                      <a:noFill/>
                    </a:lnR>
                    <a:lnT>
                      <a:noFill/>
                    </a:lnT>
                    <a:lnB>
                      <a:noFill/>
                    </a:lnB>
                    <a:solidFill>
                      <a:srgbClr val="F8FAFC"/>
                    </a:solidFill>
                  </a:tcPr>
                </a:tc>
              </a:tr>
              <a:tr h="647377">
                <a:tc>
                  <a:txBody>
                    <a:bodyPr/>
                    <a:lstStyle/>
                    <a:p>
                      <a:pPr algn="l"/>
                      <a:r>
                        <a:rPr b="0" sz="1125" i="0" u="none">
                          <a:solidFill>
                            <a:srgbClr val="334155"/>
                          </a:solidFill>
                          <a:latin typeface="Inter"/>
                        </a:rPr>
                        <a:t>proofs</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PK: </a:t>
                      </a:r>
                      <a:r>
                        <a:rPr b="0" sz="1125" i="0" u="none">
                          <a:solidFill>
                            <a:srgbClr val="334155"/>
                          </a:solidFill>
                          <a:latin typeface="Inter"/>
                        </a:rPr>
                        <a:t>id</a:t>
                      </a:r>
                      <a:r>
                        <a:rPr b="0" sz="1125" i="0" u="none">
                          <a:solidFill>
                            <a:srgbClr val="334155"/>
                          </a:solidFill>
                          <a:latin typeface="Inter"/>
                        </a:rPr>
                        <a:t> | FK: </a:t>
                      </a:r>
                      <a:r>
                        <a:rPr b="0" sz="1125" i="0" u="none">
                          <a:solidFill>
                            <a:srgbClr val="334155"/>
                          </a:solidFill>
                          <a:latin typeface="Inter"/>
                        </a:rPr>
                        <a:t>student_id, event_id</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Lưu trữ URL ảnh, mã băm pHash (64-bit), văn bản OCR và trạng thái duyệt (pending/approved).</a:t>
                      </a:r>
                    </a:p>
                  </a:txBody>
                  <a:tcPr anchor="ctr" marL="63500" marR="63500" marT="25400" marB="25400">
                    <a:lnL>
                      <a:noFill/>
                    </a:lnL>
                    <a:lnR>
                      <a:noFill/>
                    </a:lnR>
                    <a:lnT>
                      <a:noFill/>
                    </a:lnT>
                    <a:lnB>
                      <a:noFill/>
                    </a:lnB>
                    <a:noFill/>
                  </a:tcPr>
                </a:tc>
              </a:tr>
              <a:tr h="647377">
                <a:tc>
                  <a:txBody>
                    <a:bodyPr/>
                    <a:lstStyle/>
                    <a:p>
                      <a:pPr algn="l"/>
                      <a:r>
                        <a:rPr b="0" sz="1125" i="0" u="none">
                          <a:solidFill>
                            <a:srgbClr val="334155"/>
                          </a:solidFill>
                          <a:latin typeface="Inter"/>
                        </a:rPr>
                        <a:t>attendance</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PK: </a:t>
                      </a:r>
                      <a:r>
                        <a:rPr b="0" sz="1125" i="0" u="none">
                          <a:solidFill>
                            <a:srgbClr val="334155"/>
                          </a:solidFill>
                          <a:latin typeface="Inter"/>
                        </a:rPr>
                        <a:t>id</a:t>
                      </a:r>
                      <a:r>
                        <a:rPr b="0" sz="1125" i="0" u="none">
                          <a:solidFill>
                            <a:srgbClr val="334155"/>
                          </a:solidFill>
                          <a:latin typeface="Inter"/>
                        </a:rPr>
                        <a:t> | FK: </a:t>
                      </a:r>
                      <a:r>
                        <a:rPr b="0" sz="1125" i="0" u="none">
                          <a:solidFill>
                            <a:srgbClr val="334155"/>
                          </a:solidFill>
                          <a:latin typeface="Inter"/>
                        </a:rPr>
                        <a:t>event_id, student_id</a:t>
                      </a:r>
                    </a:p>
                  </a:txBody>
                  <a:tcPr anchor="ctr" marL="63500" marR="63500" marT="25400" marB="25400">
                    <a:lnL>
                      <a:noFill/>
                    </a:lnL>
                    <a:lnR>
                      <a:noFill/>
                    </a:lnR>
                    <a:lnT>
                      <a:noFill/>
                    </a:lnT>
                    <a:lnB>
                      <a:noFill/>
                    </a:lnB>
                    <a:solidFill>
                      <a:srgbClr val="F8FAFC"/>
                    </a:solidFill>
                  </a:tcPr>
                </a:tc>
                <a:tc>
                  <a:txBody>
                    <a:bodyPr/>
                    <a:lstStyle/>
                    <a:p>
                      <a:pPr algn="l"/>
                      <a:r>
                        <a:rPr b="0" sz="1125" i="0" u="none">
                          <a:solidFill>
                            <a:srgbClr val="334155"/>
                          </a:solidFill>
                          <a:latin typeface="Inter"/>
                        </a:rPr>
                        <a:t>Ghi nhận nhật ký điểm danh thực tế (thời gian, phương thức QR/GPS, file đính kèm).</a:t>
                      </a:r>
                    </a:p>
                  </a:txBody>
                  <a:tcPr anchor="ctr" marL="63500" marR="63500" marT="25400" marB="25400">
                    <a:lnL>
                      <a:noFill/>
                    </a:lnL>
                    <a:lnR>
                      <a:noFill/>
                    </a:lnR>
                    <a:lnT>
                      <a:noFill/>
                    </a:lnT>
                    <a:lnB>
                      <a:noFill/>
                    </a:lnB>
                    <a:solidFill>
                      <a:srgbClr val="F8FAFC"/>
                    </a:solidFill>
                  </a:tcPr>
                </a:tc>
              </a:tr>
              <a:tr h="647380">
                <a:tc>
                  <a:txBody>
                    <a:bodyPr/>
                    <a:lstStyle/>
                    <a:p>
                      <a:pPr algn="l"/>
                      <a:r>
                        <a:rPr b="0" sz="1125" i="0" u="none">
                          <a:solidFill>
                            <a:srgbClr val="334155"/>
                          </a:solidFill>
                          <a:latin typeface="Inter"/>
                        </a:rPr>
                        <a:t>student_criteria_points</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PK: </a:t>
                      </a:r>
                      <a:r>
                        <a:rPr b="0" sz="1125" i="0" u="none">
                          <a:solidFill>
                            <a:srgbClr val="334155"/>
                          </a:solidFill>
                          <a:latin typeface="Inter"/>
                        </a:rPr>
                        <a:t>id</a:t>
                      </a:r>
                      <a:r>
                        <a:rPr b="0" sz="1125" i="0" u="none">
                          <a:solidFill>
                            <a:srgbClr val="334155"/>
                          </a:solidFill>
                          <a:latin typeface="Inter"/>
                        </a:rPr>
                        <a:t> | FK: </a:t>
                      </a:r>
                      <a:r>
                        <a:rPr b="0" sz="1125" i="0" u="none">
                          <a:solidFill>
                            <a:srgbClr val="334155"/>
                          </a:solidFill>
                          <a:latin typeface="Inter"/>
                        </a:rPr>
                        <a:t>mssv, criteria_id</a:t>
                      </a:r>
                    </a:p>
                  </a:txBody>
                  <a:tcPr anchor="ctr" marL="63500" marR="63500" marT="25400" marB="25400">
                    <a:lnL>
                      <a:noFill/>
                    </a:lnL>
                    <a:lnR>
                      <a:noFill/>
                    </a:lnR>
                    <a:lnT>
                      <a:noFill/>
                    </a:lnT>
                    <a:lnB>
                      <a:noFill/>
                    </a:lnB>
                    <a:noFill/>
                  </a:tcPr>
                </a:tc>
                <a:tc>
                  <a:txBody>
                    <a:bodyPr/>
                    <a:lstStyle/>
                    <a:p>
                      <a:pPr algn="l"/>
                      <a:r>
                        <a:rPr b="0" sz="1125" i="0" u="none">
                          <a:solidFill>
                            <a:srgbClr val="334155"/>
                          </a:solidFill>
                          <a:latin typeface="Inter"/>
                        </a:rPr>
                        <a:t>Theo dõi điểm số tích lũy chi tiết của từng sinh viên theo 5 nhóm tiêu chí rèn luyện.</a:t>
                      </a:r>
                    </a:p>
                  </a:txBody>
                  <a:tcPr anchor="ctr" marL="63500" marR="63500" marT="25400" marB="25400">
                    <a:lnL>
                      <a:noFill/>
                    </a:lnL>
                    <a:lnR>
                      <a:noFill/>
                    </a:lnR>
                    <a:lnT>
                      <a:noFill/>
                    </a:lnT>
                    <a:lnB>
                      <a:noFill/>
                    </a:lnB>
                    <a:noFill/>
                  </a:tcPr>
                </a:tc>
              </a:tr>
            </a:tbl>
          </a:graphicData>
        </a:graphic>
      </p:graphicFrame>
      <p:sp>
        <p:nvSpPr>
          <p:cNvPr id="5" name="Rectangle 4"/>
          <p:cNvSpPr/>
          <p:nvPr/>
        </p:nvSpPr>
        <p:spPr>
          <a:xfrm>
            <a:off x="585787" y="2442120"/>
            <a:ext cx="2357883"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43671" y="2442120"/>
            <a:ext cx="2678906"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22577" y="2442120"/>
            <a:ext cx="5983634"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5787" y="2996951"/>
            <a:ext cx="23578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43671" y="2996951"/>
            <a:ext cx="267890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22577" y="2996951"/>
            <a:ext cx="59836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5787" y="3523208"/>
            <a:ext cx="23578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43671" y="3523208"/>
            <a:ext cx="267890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22577" y="3523208"/>
            <a:ext cx="59836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5787" y="4280445"/>
            <a:ext cx="23578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43671" y="4280445"/>
            <a:ext cx="267890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22577" y="4280445"/>
            <a:ext cx="59836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5787" y="5037683"/>
            <a:ext cx="23578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43671" y="5037683"/>
            <a:ext cx="267890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22577" y="5037683"/>
            <a:ext cx="59836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787" y="5775870"/>
            <a:ext cx="235788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43671" y="5775870"/>
            <a:ext cx="267890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22577" y="5775870"/>
            <a:ext cx="598363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8700" y="485775"/>
            <a:ext cx="11111388" cy="438150"/>
          </a:xfrm>
          <a:prstGeom prst="rect">
            <a:avLst/>
          </a:prstGeom>
          <a:noFill/>
        </p:spPr>
        <p:txBody>
          <a:bodyPr wrap="square" lIns="0" rIns="0" tIns="0" bIns="0" anchor="ctr">
            <a:spAutoFit/>
          </a:bodyPr>
          <a:lstStyle/>
          <a:p>
            <a:pPr algn="l"/>
            <a:r>
              <a:rPr b="1" sz="2700" i="0" u="none">
                <a:solidFill>
                  <a:srgbClr val="0F172A"/>
                </a:solidFill>
                <a:latin typeface="Urbanist"/>
              </a:rPr>
              <a:t>Cấu Trúc Cơ Sở Dữ Liệu Lõi (Core Schema)</a:t>
            </a:r>
          </a:p>
        </p:txBody>
      </p:sp>
      <p:sp>
        <p:nvSpPr>
          <p:cNvPr id="24" name="Rectangle 23"/>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519112"/>
            <a:ext cx="219075" cy="342900"/>
          </a:xfrm>
          <a:prstGeom prst="rect">
            <a:avLst/>
          </a:prstGeom>
        </p:spPr>
      </p:pic>
      <p:sp>
        <p:nvSpPr>
          <p:cNvPr id="3" name="TextBox 2"/>
          <p:cNvSpPr txBox="1"/>
          <p:nvPr/>
        </p:nvSpPr>
        <p:spPr>
          <a:xfrm>
            <a:off x="1057275" y="2499121"/>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Đăng Nhập SSO &amp; Xem Ví Điểm:</a:t>
            </a:r>
            <a:r>
              <a:rPr b="0" sz="1350" i="0" u="none">
                <a:solidFill>
                  <a:srgbClr val="334155"/>
                </a:solidFill>
                <a:latin typeface="Inter"/>
              </a:rPr>
              <a:t> Đăng nhập bằng Google Email trường. Dashboard tự động tính điểm rèn luyện tích lũy và hiển thị tiến độ 5 nhóm tiêu chí.</a:t>
            </a:r>
          </a:p>
        </p:txBody>
      </p:sp>
      <p:sp>
        <p:nvSpPr>
          <p:cNvPr id="4" name="TextBox 3"/>
          <p:cNvSpPr txBox="1"/>
          <p:nvPr/>
        </p:nvSpPr>
        <p:spPr>
          <a:xfrm>
            <a:off x="1057275" y="3239988"/>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Đăng Ký Tham Gia Sự Kiện:</a:t>
            </a:r>
            <a:r>
              <a:rPr b="0" sz="1350" i="0" u="none">
                <a:solidFill>
                  <a:srgbClr val="334155"/>
                </a:solidFill>
                <a:latin typeface="Inter"/>
              </a:rPr>
              <a:t> Tra cứu sự kiện sắp diễn ra. Hệ thống tự động kiểm tra chỉ tiêu hạn ngạch ngành học trước khi giữ chỗ.</a:t>
            </a:r>
          </a:p>
        </p:txBody>
      </p:sp>
      <p:sp>
        <p:nvSpPr>
          <p:cNvPr id="5" name="TextBox 4"/>
          <p:cNvSpPr txBox="1"/>
          <p:nvPr/>
        </p:nvSpPr>
        <p:spPr>
          <a:xfrm>
            <a:off x="1057275" y="3980854"/>
            <a:ext cx="10553700" cy="265658"/>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Điểm Danh QR &amp; GPS Khóa Vị Trí:</a:t>
            </a:r>
            <a:r>
              <a:rPr b="0" sz="1350" i="0" u="none">
                <a:solidFill>
                  <a:srgbClr val="334155"/>
                </a:solidFill>
                <a:latin typeface="Inter"/>
              </a:rPr>
              <a:t> Mở camera quét QR động tại hội trường. Hệ thống khóa tọa độ GPS xác thực vị trí dưới 50m.</a:t>
            </a:r>
          </a:p>
        </p:txBody>
      </p:sp>
      <p:sp>
        <p:nvSpPr>
          <p:cNvPr id="6" name="TextBox 5"/>
          <p:cNvSpPr txBox="1"/>
          <p:nvPr/>
        </p:nvSpPr>
        <p:spPr>
          <a:xfrm>
            <a:off x="1057275" y="4456062"/>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Nộp Minh Chứng &amp; Nhận Phản Hồi:</a:t>
            </a:r>
            <a:r>
              <a:rPr b="0" sz="1350" i="0" u="none">
                <a:solidFill>
                  <a:srgbClr val="334155"/>
                </a:solidFill>
                <a:latin typeface="Inter"/>
              </a:rPr>
              <a:t> Tải ảnh chứng nhận, đính kèm file báo cáo hoặc link bài làm online. Nhận thông báo phê duyệt thời gian thực.</a:t>
            </a:r>
          </a:p>
        </p:txBody>
      </p:sp>
      <p:pic>
        <p:nvPicPr>
          <p:cNvPr id="7" name="Picture 6" descr="image.png"/>
          <p:cNvPicPr>
            <a:picLocks noChangeAspect="1"/>
          </p:cNvPicPr>
          <p:nvPr/>
        </p:nvPicPr>
        <p:blipFill>
          <a:blip r:embed="rId3"/>
          <a:stretch>
            <a:fillRect/>
          </a:stretch>
        </p:blipFill>
        <p:spPr>
          <a:xfrm>
            <a:off x="581025" y="2480071"/>
            <a:ext cx="76200" cy="152400"/>
          </a:xfrm>
          <a:prstGeom prst="rect">
            <a:avLst/>
          </a:prstGeom>
        </p:spPr>
      </p:pic>
      <p:pic>
        <p:nvPicPr>
          <p:cNvPr id="8" name="Picture 7" descr="image.png"/>
          <p:cNvPicPr>
            <a:picLocks noChangeAspect="1"/>
          </p:cNvPicPr>
          <p:nvPr/>
        </p:nvPicPr>
        <p:blipFill>
          <a:blip r:embed="rId4"/>
          <a:stretch>
            <a:fillRect/>
          </a:stretch>
        </p:blipFill>
        <p:spPr>
          <a:xfrm>
            <a:off x="581025" y="3220938"/>
            <a:ext cx="95250" cy="152400"/>
          </a:xfrm>
          <a:prstGeom prst="rect">
            <a:avLst/>
          </a:prstGeom>
        </p:spPr>
      </p:pic>
      <p:pic>
        <p:nvPicPr>
          <p:cNvPr id="9" name="Picture 8" descr="image.png"/>
          <p:cNvPicPr>
            <a:picLocks noChangeAspect="1"/>
          </p:cNvPicPr>
          <p:nvPr/>
        </p:nvPicPr>
        <p:blipFill>
          <a:blip r:embed="rId5"/>
          <a:stretch>
            <a:fillRect/>
          </a:stretch>
        </p:blipFill>
        <p:spPr>
          <a:xfrm>
            <a:off x="581025" y="3961804"/>
            <a:ext cx="95250" cy="152400"/>
          </a:xfrm>
          <a:prstGeom prst="rect">
            <a:avLst/>
          </a:prstGeom>
        </p:spPr>
      </p:pic>
      <p:pic>
        <p:nvPicPr>
          <p:cNvPr id="10" name="Picture 9" descr="image.png"/>
          <p:cNvPicPr>
            <a:picLocks noChangeAspect="1"/>
          </p:cNvPicPr>
          <p:nvPr/>
        </p:nvPicPr>
        <p:blipFill>
          <a:blip r:embed="rId6"/>
          <a:stretch>
            <a:fillRect/>
          </a:stretch>
        </p:blipFill>
        <p:spPr>
          <a:xfrm>
            <a:off x="581025" y="4437012"/>
            <a:ext cx="114300" cy="152400"/>
          </a:xfrm>
          <a:prstGeom prst="rect">
            <a:avLst/>
          </a:prstGeom>
        </p:spPr>
      </p:pic>
      <p:sp>
        <p:nvSpPr>
          <p:cNvPr id="11" name="TextBox 10"/>
          <p:cNvSpPr txBox="1"/>
          <p:nvPr/>
        </p:nvSpPr>
        <p:spPr>
          <a:xfrm>
            <a:off x="942975" y="485775"/>
            <a:ext cx="11201400" cy="438150"/>
          </a:xfrm>
          <a:prstGeom prst="rect">
            <a:avLst/>
          </a:prstGeom>
          <a:noFill/>
        </p:spPr>
        <p:txBody>
          <a:bodyPr wrap="square" lIns="0" rIns="0" tIns="0" bIns="0" anchor="ctr">
            <a:spAutoFit/>
          </a:bodyPr>
          <a:lstStyle/>
          <a:p>
            <a:pPr algn="l"/>
            <a:r>
              <a:rPr b="1" sz="2700" i="0" u="none">
                <a:solidFill>
                  <a:srgbClr val="0F172A"/>
                </a:solidFill>
                <a:latin typeface="Urbanist"/>
              </a:rPr>
              <a:t>Quy Trình Nghiệp Vụ Dành Cho Sinh Viên</a:t>
            </a:r>
          </a:p>
        </p:txBody>
      </p:sp>
      <p:sp>
        <p:nvSpPr>
          <p:cNvPr id="12" name="Rectangle 11"/>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519112"/>
            <a:ext cx="342900" cy="342900"/>
          </a:xfrm>
          <a:prstGeom prst="rect">
            <a:avLst/>
          </a:prstGeom>
        </p:spPr>
      </p:pic>
      <p:sp>
        <p:nvSpPr>
          <p:cNvPr id="3" name="TextBox 2"/>
          <p:cNvSpPr txBox="1"/>
          <p:nvPr/>
        </p:nvSpPr>
        <p:spPr>
          <a:xfrm>
            <a:off x="1057275" y="2366367"/>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Khởi Tạo Sự Kiện Chuyên Sâu:</a:t>
            </a:r>
            <a:r>
              <a:rPr b="0" sz="1350" i="0" u="none">
                <a:solidFill>
                  <a:srgbClr val="334155"/>
                </a:solidFill>
                <a:latin typeface="Inter"/>
              </a:rPr>
              <a:t> Cấu hình điểm rèn luyện, chọn vị trí mẫu GPS, thiết lập chỉ tiêu ngành học và tải lên ảnh chứng nhận mẫu cho AI.</a:t>
            </a:r>
          </a:p>
        </p:txBody>
      </p:sp>
      <p:sp>
        <p:nvSpPr>
          <p:cNvPr id="4" name="TextBox 3"/>
          <p:cNvSpPr txBox="1"/>
          <p:nvPr/>
        </p:nvSpPr>
        <p:spPr>
          <a:xfrm>
            <a:off x="1057275" y="3107233"/>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Trình Chiếu QR Động:</a:t>
            </a:r>
            <a:r>
              <a:rPr b="0" sz="1350" i="0" u="none">
                <a:solidFill>
                  <a:srgbClr val="334155"/>
                </a:solidFill>
                <a:latin typeface="Inter"/>
              </a:rPr>
              <a:t> Bật màn hình hiển thị mã QR động tại hội trường. Mã liên tục làm mới chống chụp ảnh phát tán điểm danh hộ.</a:t>
            </a:r>
          </a:p>
        </p:txBody>
      </p:sp>
      <p:sp>
        <p:nvSpPr>
          <p:cNvPr id="5" name="TextBox 4"/>
          <p:cNvSpPr txBox="1"/>
          <p:nvPr/>
        </p:nvSpPr>
        <p:spPr>
          <a:xfrm>
            <a:off x="1057275" y="3848100"/>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Thẩm Định Minh Chứng AI Hỗ Trợ:</a:t>
            </a:r>
            <a:r>
              <a:rPr b="0" sz="1350" i="0" u="none">
                <a:solidFill>
                  <a:srgbClr val="334155"/>
                </a:solidFill>
                <a:latin typeface="Inter"/>
              </a:rPr>
              <a:t> Lọc danh sách hồ sơ theo nhãn màu. Duyệt nhanh 1-chạm cho hồ sơ an toàn hoặc từ chối kèm lý do phản hồi.</a:t>
            </a:r>
          </a:p>
        </p:txBody>
      </p:sp>
      <p:sp>
        <p:nvSpPr>
          <p:cNvPr id="6" name="TextBox 5"/>
          <p:cNvSpPr txBox="1"/>
          <p:nvPr/>
        </p:nvSpPr>
        <p:spPr>
          <a:xfrm>
            <a:off x="1057275" y="4588966"/>
            <a:ext cx="10553700" cy="531316"/>
          </a:xfrm>
          <a:prstGeom prst="rect">
            <a:avLst/>
          </a:prstGeom>
          <a:noFill/>
        </p:spPr>
        <p:txBody>
          <a:bodyPr wrap="square" lIns="0" rIns="0" tIns="0" bIns="0" anchor="t">
            <a:spAutoFit/>
          </a:bodyPr>
          <a:lstStyle/>
          <a:p>
            <a:pPr algn="l">
              <a:lnSpc>
                <a:spcPts val="2092"/>
              </a:lnSpc>
            </a:pPr>
            <a:r>
              <a:rPr b="0" sz="1350" i="0" u="none">
                <a:solidFill>
                  <a:srgbClr val="0F172A"/>
                </a:solidFill>
                <a:latin typeface="Inter SemiBold"/>
              </a:rPr>
              <a:t>Quản Lý Nhân Sự &amp; Xuất Báo Cáo:</a:t>
            </a:r>
            <a:r>
              <a:rPr b="0" sz="1350" i="0" u="none">
                <a:solidFill>
                  <a:srgbClr val="334155"/>
                </a:solidFill>
                <a:latin typeface="Inter"/>
              </a:rPr>
              <a:t> Phân quyền Ban cán sự lớp, quản lý danh sách địa điểm mẫu GPS và xuất file Excel điểm rèn luyện toàn trường.</a:t>
            </a:r>
          </a:p>
        </p:txBody>
      </p:sp>
      <p:pic>
        <p:nvPicPr>
          <p:cNvPr id="7" name="Picture 6" descr="image.png"/>
          <p:cNvPicPr>
            <a:picLocks noChangeAspect="1"/>
          </p:cNvPicPr>
          <p:nvPr/>
        </p:nvPicPr>
        <p:blipFill>
          <a:blip r:embed="rId3"/>
          <a:stretch>
            <a:fillRect/>
          </a:stretch>
        </p:blipFill>
        <p:spPr>
          <a:xfrm>
            <a:off x="581025" y="2347317"/>
            <a:ext cx="133350" cy="152400"/>
          </a:xfrm>
          <a:prstGeom prst="rect">
            <a:avLst/>
          </a:prstGeom>
        </p:spPr>
      </p:pic>
      <p:pic>
        <p:nvPicPr>
          <p:cNvPr id="8" name="Picture 7" descr="image.png"/>
          <p:cNvPicPr>
            <a:picLocks noChangeAspect="1"/>
          </p:cNvPicPr>
          <p:nvPr/>
        </p:nvPicPr>
        <p:blipFill>
          <a:blip r:embed="rId4"/>
          <a:stretch>
            <a:fillRect/>
          </a:stretch>
        </p:blipFill>
        <p:spPr>
          <a:xfrm>
            <a:off x="581025" y="3088183"/>
            <a:ext cx="133350" cy="152400"/>
          </a:xfrm>
          <a:prstGeom prst="rect">
            <a:avLst/>
          </a:prstGeom>
        </p:spPr>
      </p:pic>
      <p:pic>
        <p:nvPicPr>
          <p:cNvPr id="9" name="Picture 8" descr="image.png"/>
          <p:cNvPicPr>
            <a:picLocks noChangeAspect="1"/>
          </p:cNvPicPr>
          <p:nvPr/>
        </p:nvPicPr>
        <p:blipFill>
          <a:blip r:embed="rId5"/>
          <a:stretch>
            <a:fillRect/>
          </a:stretch>
        </p:blipFill>
        <p:spPr>
          <a:xfrm>
            <a:off x="581025" y="3829050"/>
            <a:ext cx="152400" cy="152400"/>
          </a:xfrm>
          <a:prstGeom prst="rect">
            <a:avLst/>
          </a:prstGeom>
        </p:spPr>
      </p:pic>
      <p:pic>
        <p:nvPicPr>
          <p:cNvPr id="10" name="Picture 9" descr="image.png"/>
          <p:cNvPicPr>
            <a:picLocks noChangeAspect="1"/>
          </p:cNvPicPr>
          <p:nvPr/>
        </p:nvPicPr>
        <p:blipFill>
          <a:blip r:embed="rId6"/>
          <a:stretch>
            <a:fillRect/>
          </a:stretch>
        </p:blipFill>
        <p:spPr>
          <a:xfrm>
            <a:off x="581025" y="4569916"/>
            <a:ext cx="114300" cy="152400"/>
          </a:xfrm>
          <a:prstGeom prst="rect">
            <a:avLst/>
          </a:prstGeom>
        </p:spPr>
      </p:pic>
      <p:sp>
        <p:nvSpPr>
          <p:cNvPr id="11" name="TextBox 10"/>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Quy Trình Nghiệp Vụ Dành Cho Ban Quản Lý</a:t>
            </a:r>
          </a:p>
        </p:txBody>
      </p:sp>
      <p:sp>
        <p:nvSpPr>
          <p:cNvPr id="12" name="Rectangle 11"/>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488108"/>
            <a:ext cx="3517850" cy="2719982"/>
          </a:xfrm>
          <a:prstGeom prst="rect">
            <a:avLst/>
          </a:prstGeom>
        </p:spPr>
      </p:pic>
      <p:pic>
        <p:nvPicPr>
          <p:cNvPr id="3" name="Picture 2" descr="image.png"/>
          <p:cNvPicPr>
            <a:picLocks noChangeAspect="1"/>
          </p:cNvPicPr>
          <p:nvPr/>
        </p:nvPicPr>
        <p:blipFill>
          <a:blip r:embed="rId3"/>
          <a:stretch>
            <a:fillRect/>
          </a:stretch>
        </p:blipFill>
        <p:spPr>
          <a:xfrm>
            <a:off x="4337000" y="2488108"/>
            <a:ext cx="3517850" cy="2719982"/>
          </a:xfrm>
          <a:prstGeom prst="rect">
            <a:avLst/>
          </a:prstGeom>
        </p:spPr>
      </p:pic>
      <p:pic>
        <p:nvPicPr>
          <p:cNvPr id="4" name="Picture 3" descr="image.png"/>
          <p:cNvPicPr>
            <a:picLocks noChangeAspect="1"/>
          </p:cNvPicPr>
          <p:nvPr/>
        </p:nvPicPr>
        <p:blipFill>
          <a:blip r:embed="rId4"/>
          <a:stretch>
            <a:fillRect/>
          </a:stretch>
        </p:blipFill>
        <p:spPr>
          <a:xfrm>
            <a:off x="8092975" y="2488108"/>
            <a:ext cx="3517850" cy="2719982"/>
          </a:xfrm>
          <a:prstGeom prst="rect">
            <a:avLst/>
          </a:prstGeom>
        </p:spPr>
      </p:pic>
      <p:pic>
        <p:nvPicPr>
          <p:cNvPr id="5" name="Picture 4" descr="image.png"/>
          <p:cNvPicPr>
            <a:picLocks noChangeAspect="1"/>
          </p:cNvPicPr>
          <p:nvPr/>
        </p:nvPicPr>
        <p:blipFill>
          <a:blip r:embed="rId5"/>
          <a:stretch>
            <a:fillRect/>
          </a:stretch>
        </p:blipFill>
        <p:spPr>
          <a:xfrm>
            <a:off x="581025" y="519112"/>
            <a:ext cx="342900" cy="342900"/>
          </a:xfrm>
          <a:prstGeom prst="rect">
            <a:avLst/>
          </a:prstGeom>
        </p:spPr>
      </p:pic>
      <p:pic>
        <p:nvPicPr>
          <p:cNvPr id="6" name="Picture 5" descr="image.png"/>
          <p:cNvPicPr>
            <a:picLocks noChangeAspect="1"/>
          </p:cNvPicPr>
          <p:nvPr/>
        </p:nvPicPr>
        <p:blipFill>
          <a:blip r:embed="rId6"/>
          <a:stretch>
            <a:fillRect/>
          </a:stretch>
        </p:blipFill>
        <p:spPr>
          <a:xfrm>
            <a:off x="828675" y="2783383"/>
            <a:ext cx="571500" cy="571500"/>
          </a:xfrm>
          <a:prstGeom prst="rect">
            <a:avLst/>
          </a:prstGeom>
        </p:spPr>
      </p:pic>
      <p:sp>
        <p:nvSpPr>
          <p:cNvPr id="7" name="TextBox 6"/>
          <p:cNvSpPr txBox="1"/>
          <p:nvPr/>
        </p:nvSpPr>
        <p:spPr>
          <a:xfrm>
            <a:off x="828675" y="3526333"/>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Ví Điểm Rèn Luyện</a:t>
            </a:r>
          </a:p>
        </p:txBody>
      </p:sp>
      <p:sp>
        <p:nvSpPr>
          <p:cNvPr id="8" name="TextBox 7"/>
          <p:cNvSpPr txBox="1"/>
          <p:nvPr/>
        </p:nvSpPr>
        <p:spPr>
          <a:xfrm>
            <a:off x="828675" y="3850183"/>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Đăng nhập Google SSO một chạm. Theo dõi trực quan tiến độ tích lũy điểm rèn luyện của 5 nhóm tiêu chí theo thời gian thực.</a:t>
            </a:r>
          </a:p>
        </p:txBody>
      </p:sp>
      <p:pic>
        <p:nvPicPr>
          <p:cNvPr id="9" name="Picture 8" descr="image.png"/>
          <p:cNvPicPr>
            <a:picLocks noChangeAspect="1"/>
          </p:cNvPicPr>
          <p:nvPr/>
        </p:nvPicPr>
        <p:blipFill>
          <a:blip r:embed="rId7"/>
          <a:stretch>
            <a:fillRect/>
          </a:stretch>
        </p:blipFill>
        <p:spPr>
          <a:xfrm>
            <a:off x="4584650" y="2783383"/>
            <a:ext cx="571500" cy="571500"/>
          </a:xfrm>
          <a:prstGeom prst="rect">
            <a:avLst/>
          </a:prstGeom>
        </p:spPr>
      </p:pic>
      <p:sp>
        <p:nvSpPr>
          <p:cNvPr id="10" name="TextBox 9"/>
          <p:cNvSpPr txBox="1"/>
          <p:nvPr/>
        </p:nvSpPr>
        <p:spPr>
          <a:xfrm>
            <a:off x="4584650" y="3526333"/>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Điểm Danh Khóa Tọa Độ</a:t>
            </a:r>
          </a:p>
        </p:txBody>
      </p:sp>
      <p:sp>
        <p:nvSpPr>
          <p:cNvPr id="11" name="TextBox 10"/>
          <p:cNvSpPr txBox="1"/>
          <p:nvPr/>
        </p:nvSpPr>
        <p:spPr>
          <a:xfrm>
            <a:off x="4584650" y="3850183"/>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Quét QR động kết hợp xác thực định vị GPS. Tự động kiểm tra độ sắc nét ảnh chụp chứng nhận bằng thuật toán Sobel.</a:t>
            </a:r>
          </a:p>
        </p:txBody>
      </p:sp>
      <p:pic>
        <p:nvPicPr>
          <p:cNvPr id="12" name="Picture 11" descr="image.png"/>
          <p:cNvPicPr>
            <a:picLocks noChangeAspect="1"/>
          </p:cNvPicPr>
          <p:nvPr/>
        </p:nvPicPr>
        <p:blipFill>
          <a:blip r:embed="rId8"/>
          <a:stretch>
            <a:fillRect/>
          </a:stretch>
        </p:blipFill>
        <p:spPr>
          <a:xfrm>
            <a:off x="8340625" y="2783383"/>
            <a:ext cx="571500" cy="571500"/>
          </a:xfrm>
          <a:prstGeom prst="rect">
            <a:avLst/>
          </a:prstGeom>
        </p:spPr>
      </p:pic>
      <p:sp>
        <p:nvSpPr>
          <p:cNvPr id="13" name="TextBox 12"/>
          <p:cNvSpPr txBox="1"/>
          <p:nvPr/>
        </p:nvSpPr>
        <p:spPr>
          <a:xfrm>
            <a:off x="8340625" y="3526333"/>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Thông Báo Tức Thời</a:t>
            </a:r>
          </a:p>
        </p:txBody>
      </p:sp>
      <p:sp>
        <p:nvSpPr>
          <p:cNvPr id="14" name="TextBox 13"/>
          <p:cNvSpPr txBox="1"/>
          <p:nvPr/>
        </p:nvSpPr>
        <p:spPr>
          <a:xfrm>
            <a:off x="8340625" y="3850183"/>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Nhận thông báo phản hồi ngay lập tức. Hiển thị chi tiết lý do từ chối từ AI hoặc cán bộ để sinh viên kịp thời bổ sung, sửa sai.</a:t>
            </a:r>
          </a:p>
        </p:txBody>
      </p:sp>
      <p:pic>
        <p:nvPicPr>
          <p:cNvPr id="15" name="Picture 14" descr="image.png"/>
          <p:cNvPicPr>
            <a:picLocks noChangeAspect="1"/>
          </p:cNvPicPr>
          <p:nvPr/>
        </p:nvPicPr>
        <p:blipFill>
          <a:blip r:embed="rId9"/>
          <a:stretch>
            <a:fillRect/>
          </a:stretch>
        </p:blipFill>
        <p:spPr>
          <a:xfrm>
            <a:off x="971550" y="2926258"/>
            <a:ext cx="285750" cy="285750"/>
          </a:xfrm>
          <a:prstGeom prst="rect">
            <a:avLst/>
          </a:prstGeom>
        </p:spPr>
      </p:pic>
      <p:pic>
        <p:nvPicPr>
          <p:cNvPr id="16" name="Picture 15" descr="image.png"/>
          <p:cNvPicPr>
            <a:picLocks noChangeAspect="1"/>
          </p:cNvPicPr>
          <p:nvPr/>
        </p:nvPicPr>
        <p:blipFill>
          <a:blip r:embed="rId10"/>
          <a:stretch>
            <a:fillRect/>
          </a:stretch>
        </p:blipFill>
        <p:spPr>
          <a:xfrm>
            <a:off x="4727525" y="2926258"/>
            <a:ext cx="285750" cy="285750"/>
          </a:xfrm>
          <a:prstGeom prst="rect">
            <a:avLst/>
          </a:prstGeom>
        </p:spPr>
      </p:pic>
      <p:pic>
        <p:nvPicPr>
          <p:cNvPr id="17" name="Picture 16" descr="image.png"/>
          <p:cNvPicPr>
            <a:picLocks noChangeAspect="1"/>
          </p:cNvPicPr>
          <p:nvPr/>
        </p:nvPicPr>
        <p:blipFill>
          <a:blip r:embed="rId11"/>
          <a:stretch>
            <a:fillRect/>
          </a:stretch>
        </p:blipFill>
        <p:spPr>
          <a:xfrm>
            <a:off x="8502550" y="2926258"/>
            <a:ext cx="247650" cy="285750"/>
          </a:xfrm>
          <a:prstGeom prst="rect">
            <a:avLst/>
          </a:prstGeom>
        </p:spPr>
      </p:pic>
      <p:sp>
        <p:nvSpPr>
          <p:cNvPr id="18" name="TextBox 17"/>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Trải Nghiệm Sinh Viên: Minh Bạch &amp; Liên Mạch</a:t>
            </a:r>
          </a:p>
        </p:txBody>
      </p:sp>
      <p:sp>
        <p:nvSpPr>
          <p:cNvPr id="19" name="Rectangle 18"/>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645717"/>
            <a:ext cx="5348287" cy="2404616"/>
          </a:xfrm>
          <a:prstGeom prst="rect">
            <a:avLst/>
          </a:prstGeom>
        </p:spPr>
      </p:pic>
      <p:pic>
        <p:nvPicPr>
          <p:cNvPr id="3" name="Picture 2" descr="image.png"/>
          <p:cNvPicPr>
            <a:picLocks noChangeAspect="1"/>
          </p:cNvPicPr>
          <p:nvPr/>
        </p:nvPicPr>
        <p:blipFill>
          <a:blip r:embed="rId3"/>
          <a:stretch>
            <a:fillRect/>
          </a:stretch>
        </p:blipFill>
        <p:spPr>
          <a:xfrm>
            <a:off x="6262687" y="2645717"/>
            <a:ext cx="5348287" cy="2404616"/>
          </a:xfrm>
          <a:prstGeom prst="rect">
            <a:avLst/>
          </a:prstGeom>
        </p:spPr>
      </p:pic>
      <p:pic>
        <p:nvPicPr>
          <p:cNvPr id="4" name="Picture 3" descr="image.png"/>
          <p:cNvPicPr>
            <a:picLocks noChangeAspect="1"/>
          </p:cNvPicPr>
          <p:nvPr/>
        </p:nvPicPr>
        <p:blipFill>
          <a:blip r:embed="rId4"/>
          <a:stretch>
            <a:fillRect/>
          </a:stretch>
        </p:blipFill>
        <p:spPr>
          <a:xfrm>
            <a:off x="581025" y="519112"/>
            <a:ext cx="342900" cy="342900"/>
          </a:xfrm>
          <a:prstGeom prst="rect">
            <a:avLst/>
          </a:prstGeom>
        </p:spPr>
      </p:pic>
      <p:sp>
        <p:nvSpPr>
          <p:cNvPr id="5" name="TextBox 4"/>
          <p:cNvSpPr txBox="1"/>
          <p:nvPr/>
        </p:nvSpPr>
        <p:spPr>
          <a:xfrm>
            <a:off x="1200150" y="2940992"/>
            <a:ext cx="4655581" cy="257175"/>
          </a:xfrm>
          <a:prstGeom prst="rect">
            <a:avLst/>
          </a:prstGeom>
          <a:noFill/>
        </p:spPr>
        <p:txBody>
          <a:bodyPr wrap="square" lIns="0" rIns="0" tIns="0" bIns="0" anchor="ctr">
            <a:spAutoFit/>
          </a:bodyPr>
          <a:lstStyle/>
          <a:p>
            <a:pPr algn="l"/>
            <a:r>
              <a:rPr b="1" sz="1650" i="0" u="none">
                <a:solidFill>
                  <a:srgbClr val="0F172A"/>
                </a:solidFill>
                <a:latin typeface="Urbanist"/>
              </a:rPr>
              <a:t>Tiết Kiệm 80% Thời Gian Xử Lý</a:t>
            </a:r>
          </a:p>
        </p:txBody>
      </p:sp>
      <p:sp>
        <p:nvSpPr>
          <p:cNvPr id="6" name="TextBox 5"/>
          <p:cNvSpPr txBox="1"/>
          <p:nvPr/>
        </p:nvSpPr>
        <p:spPr>
          <a:xfrm>
            <a:off x="876300" y="3312467"/>
            <a:ext cx="4757737" cy="796974"/>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Cấu hình tự động:</a:t>
            </a:r>
            <a:r>
              <a:rPr b="0" sz="1350" i="0" u="none">
                <a:solidFill>
                  <a:srgbClr val="334155"/>
                </a:solidFill>
                <a:latin typeface="Inter"/>
              </a:rPr>
              <a:t> Gắn ảnh mẫu chứng chỉ để AI tự động đối soát và phê duyệt hàng loạt mà không cần sự can thiệp thủ công.</a:t>
            </a:r>
          </a:p>
        </p:txBody>
      </p:sp>
      <p:sp>
        <p:nvSpPr>
          <p:cNvPr id="7" name="TextBox 6"/>
          <p:cNvSpPr txBox="1"/>
          <p:nvPr/>
        </p:nvSpPr>
        <p:spPr>
          <a:xfrm>
            <a:off x="876300" y="4223742"/>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Phân loại thông minh:</a:t>
            </a:r>
            <a:r>
              <a:rPr b="0" sz="1350" i="0" u="none">
                <a:solidFill>
                  <a:srgbClr val="334155"/>
                </a:solidFill>
                <a:latin typeface="Inter"/>
              </a:rPr>
              <a:t> Hồ sơ tự động xếp theo nhãn Xanh (An toàn), Vàng (Trùng mẫu), Đỏ (Nghi vấn giả mạo).</a:t>
            </a:r>
          </a:p>
        </p:txBody>
      </p:sp>
      <p:sp>
        <p:nvSpPr>
          <p:cNvPr id="8" name="TextBox 7"/>
          <p:cNvSpPr txBox="1"/>
          <p:nvPr/>
        </p:nvSpPr>
        <p:spPr>
          <a:xfrm>
            <a:off x="6938962" y="2940992"/>
            <a:ext cx="4595574" cy="257175"/>
          </a:xfrm>
          <a:prstGeom prst="rect">
            <a:avLst/>
          </a:prstGeom>
          <a:noFill/>
        </p:spPr>
        <p:txBody>
          <a:bodyPr wrap="square" lIns="0" rIns="0" tIns="0" bIns="0" anchor="ctr">
            <a:spAutoFit/>
          </a:bodyPr>
          <a:lstStyle/>
          <a:p>
            <a:pPr algn="l"/>
            <a:r>
              <a:rPr b="1" sz="1650" i="0" u="none">
                <a:solidFill>
                  <a:srgbClr val="0F172A"/>
                </a:solidFill>
                <a:latin typeface="Urbanist"/>
              </a:rPr>
              <a:t>Phân Tải Triệt Để Cấp Trường</a:t>
            </a:r>
          </a:p>
        </p:txBody>
      </p:sp>
      <p:sp>
        <p:nvSpPr>
          <p:cNvPr id="9" name="TextBox 8"/>
          <p:cNvSpPr txBox="1"/>
          <p:nvPr/>
        </p:nvSpPr>
        <p:spPr>
          <a:xfrm>
            <a:off x="6557962" y="3312467"/>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Phân quyền RBAC:</a:t>
            </a:r>
            <a:r>
              <a:rPr b="0" sz="1350" i="0" u="none">
                <a:solidFill>
                  <a:srgbClr val="334155"/>
                </a:solidFill>
                <a:latin typeface="Inter"/>
              </a:rPr>
              <a:t> Phân quyền động cho Ban cán sự lớp phê duyệt hồ sơ của Chi đoàn mình.</a:t>
            </a:r>
          </a:p>
        </p:txBody>
      </p:sp>
      <p:sp>
        <p:nvSpPr>
          <p:cNvPr id="10" name="TextBox 9"/>
          <p:cNvSpPr txBox="1"/>
          <p:nvPr/>
        </p:nvSpPr>
        <p:spPr>
          <a:xfrm>
            <a:off x="6557962" y="3958083"/>
            <a:ext cx="4757737" cy="531316"/>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 </a:t>
            </a:r>
            <a:r>
              <a:rPr b="1" sz="1350" i="0" u="none">
                <a:solidFill>
                  <a:srgbClr val="334155"/>
                </a:solidFill>
                <a:latin typeface="Inter"/>
              </a:rPr>
              <a:t>Giảm áp lực hành chính:</a:t>
            </a:r>
            <a:r>
              <a:rPr b="0" sz="1350" i="0" u="none">
                <a:solidFill>
                  <a:srgbClr val="334155"/>
                </a:solidFill>
                <a:latin typeface="Inter"/>
              </a:rPr>
              <a:t> Đoàn khoa chỉ tập trung kiểm tra các hồ sơ bị dán cờ đỏ nghi vấn từ phân hệ AI.</a:t>
            </a:r>
          </a:p>
        </p:txBody>
      </p:sp>
      <p:pic>
        <p:nvPicPr>
          <p:cNvPr id="11" name="Picture 10" descr="image.png"/>
          <p:cNvPicPr>
            <a:picLocks noChangeAspect="1"/>
          </p:cNvPicPr>
          <p:nvPr/>
        </p:nvPicPr>
        <p:blipFill>
          <a:blip r:embed="rId5"/>
          <a:stretch>
            <a:fillRect/>
          </a:stretch>
        </p:blipFill>
        <p:spPr>
          <a:xfrm>
            <a:off x="876300" y="2964805"/>
            <a:ext cx="209550" cy="209550"/>
          </a:xfrm>
          <a:prstGeom prst="rect">
            <a:avLst/>
          </a:prstGeom>
        </p:spPr>
      </p:pic>
      <p:pic>
        <p:nvPicPr>
          <p:cNvPr id="12" name="Picture 11" descr="image.png"/>
          <p:cNvPicPr>
            <a:picLocks noChangeAspect="1"/>
          </p:cNvPicPr>
          <p:nvPr/>
        </p:nvPicPr>
        <p:blipFill>
          <a:blip r:embed="rId6"/>
          <a:stretch>
            <a:fillRect/>
          </a:stretch>
        </p:blipFill>
        <p:spPr>
          <a:xfrm>
            <a:off x="6557962" y="2964805"/>
            <a:ext cx="266700" cy="209550"/>
          </a:xfrm>
          <a:prstGeom prst="rect">
            <a:avLst/>
          </a:prstGeom>
        </p:spPr>
      </p:pic>
      <p:sp>
        <p:nvSpPr>
          <p:cNvPr id="13" name="TextBox 12"/>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Trải Nghiệm Quản Trị: Tối Đa Hóa Hiệu Suất</a:t>
            </a:r>
          </a:p>
        </p:txBody>
      </p:sp>
      <p:sp>
        <p:nvSpPr>
          <p:cNvPr id="14" name="Rectangle 13"/>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355205"/>
            <a:ext cx="3517850" cy="2985641"/>
          </a:xfrm>
          <a:prstGeom prst="rect">
            <a:avLst/>
          </a:prstGeom>
        </p:spPr>
      </p:pic>
      <p:pic>
        <p:nvPicPr>
          <p:cNvPr id="3" name="Picture 2" descr="image.png"/>
          <p:cNvPicPr>
            <a:picLocks noChangeAspect="1"/>
          </p:cNvPicPr>
          <p:nvPr/>
        </p:nvPicPr>
        <p:blipFill>
          <a:blip r:embed="rId3"/>
          <a:stretch>
            <a:fillRect/>
          </a:stretch>
        </p:blipFill>
        <p:spPr>
          <a:xfrm>
            <a:off x="4337000" y="2355205"/>
            <a:ext cx="3517850" cy="2985641"/>
          </a:xfrm>
          <a:prstGeom prst="rect">
            <a:avLst/>
          </a:prstGeom>
        </p:spPr>
      </p:pic>
      <p:pic>
        <p:nvPicPr>
          <p:cNvPr id="4" name="Picture 3" descr="image.png"/>
          <p:cNvPicPr>
            <a:picLocks noChangeAspect="1"/>
          </p:cNvPicPr>
          <p:nvPr/>
        </p:nvPicPr>
        <p:blipFill>
          <a:blip r:embed="rId4"/>
          <a:stretch>
            <a:fillRect/>
          </a:stretch>
        </p:blipFill>
        <p:spPr>
          <a:xfrm>
            <a:off x="8092975" y="2355205"/>
            <a:ext cx="3517850" cy="2985641"/>
          </a:xfrm>
          <a:prstGeom prst="rect">
            <a:avLst/>
          </a:prstGeom>
        </p:spPr>
      </p:pic>
      <p:pic>
        <p:nvPicPr>
          <p:cNvPr id="5" name="Picture 4" descr="image.png"/>
          <p:cNvPicPr>
            <a:picLocks noChangeAspect="1"/>
          </p:cNvPicPr>
          <p:nvPr/>
        </p:nvPicPr>
        <p:blipFill>
          <a:blip r:embed="rId5"/>
          <a:stretch>
            <a:fillRect/>
          </a:stretch>
        </p:blipFill>
        <p:spPr>
          <a:xfrm>
            <a:off x="581025" y="519112"/>
            <a:ext cx="342900" cy="342900"/>
          </a:xfrm>
          <a:prstGeom prst="rect">
            <a:avLst/>
          </a:prstGeom>
        </p:spPr>
      </p:pic>
      <p:pic>
        <p:nvPicPr>
          <p:cNvPr id="6" name="Picture 5" descr="image.png"/>
          <p:cNvPicPr>
            <a:picLocks noChangeAspect="1"/>
          </p:cNvPicPr>
          <p:nvPr/>
        </p:nvPicPr>
        <p:blipFill>
          <a:blip r:embed="rId6"/>
          <a:stretch>
            <a:fillRect/>
          </a:stretch>
        </p:blipFill>
        <p:spPr>
          <a:xfrm>
            <a:off x="828675" y="2650480"/>
            <a:ext cx="571500" cy="571500"/>
          </a:xfrm>
          <a:prstGeom prst="rect">
            <a:avLst/>
          </a:prstGeom>
        </p:spPr>
      </p:pic>
      <p:sp>
        <p:nvSpPr>
          <p:cNvPr id="7" name="TextBox 6"/>
          <p:cNvSpPr txBox="1"/>
          <p:nvPr/>
        </p:nvSpPr>
        <p:spPr>
          <a:xfrm>
            <a:off x="82867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Tùy Chỉnh Ngưỡng AI</a:t>
            </a:r>
          </a:p>
        </p:txBody>
      </p:sp>
      <p:sp>
        <p:nvSpPr>
          <p:cNvPr id="8" name="TextBox 7"/>
          <p:cNvSpPr txBox="1"/>
          <p:nvPr/>
        </p:nvSpPr>
        <p:spPr>
          <a:xfrm>
            <a:off x="82867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Quản trị viên toàn quyền tinh chỉnh độ khắt khe hệ thống: Ngưỡng tin cậy OCR (%), Khoảng cách Hamming pHash và bật/tắt module quét EXIF.</a:t>
            </a:r>
          </a:p>
        </p:txBody>
      </p:sp>
      <p:pic>
        <p:nvPicPr>
          <p:cNvPr id="9" name="Picture 8" descr="image.png"/>
          <p:cNvPicPr>
            <a:picLocks noChangeAspect="1"/>
          </p:cNvPicPr>
          <p:nvPr/>
        </p:nvPicPr>
        <p:blipFill>
          <a:blip r:embed="rId7"/>
          <a:stretch>
            <a:fillRect/>
          </a:stretch>
        </p:blipFill>
        <p:spPr>
          <a:xfrm>
            <a:off x="4584650" y="2650480"/>
            <a:ext cx="571500" cy="571500"/>
          </a:xfrm>
          <a:prstGeom prst="rect">
            <a:avLst/>
          </a:prstGeom>
        </p:spPr>
      </p:pic>
      <p:sp>
        <p:nvSpPr>
          <p:cNvPr id="10" name="TextBox 9"/>
          <p:cNvSpPr txBox="1"/>
          <p:nvPr/>
        </p:nvSpPr>
        <p:spPr>
          <a:xfrm>
            <a:off x="4584650"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Quản Lý Tiêu Chí Động</a:t>
            </a:r>
          </a:p>
        </p:txBody>
      </p:sp>
      <p:sp>
        <p:nvSpPr>
          <p:cNvPr id="11" name="TextBox 10"/>
          <p:cNvSpPr txBox="1"/>
          <p:nvPr/>
        </p:nvSpPr>
        <p:spPr>
          <a:xfrm>
            <a:off x="4584650" y="3717280"/>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Thiết lập linh hoạt cây thư mục 5 nhóm tiêu chí rèn luyện và cài đặt trần điểm tối đa độc lập cho từng học kỳ theo quy chế nhà trường.</a:t>
            </a:r>
          </a:p>
        </p:txBody>
      </p:sp>
      <p:pic>
        <p:nvPicPr>
          <p:cNvPr id="12" name="Picture 11" descr="image.png"/>
          <p:cNvPicPr>
            <a:picLocks noChangeAspect="1"/>
          </p:cNvPicPr>
          <p:nvPr/>
        </p:nvPicPr>
        <p:blipFill>
          <a:blip r:embed="rId8"/>
          <a:stretch>
            <a:fillRect/>
          </a:stretch>
        </p:blipFill>
        <p:spPr>
          <a:xfrm>
            <a:off x="8340625" y="2650480"/>
            <a:ext cx="571500" cy="571500"/>
          </a:xfrm>
          <a:prstGeom prst="rect">
            <a:avLst/>
          </a:prstGeom>
        </p:spPr>
      </p:pic>
      <p:sp>
        <p:nvSpPr>
          <p:cNvPr id="13" name="TextBox 12"/>
          <p:cNvSpPr txBox="1"/>
          <p:nvPr/>
        </p:nvSpPr>
        <p:spPr>
          <a:xfrm>
            <a:off x="834062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Báo Cáo Tức Thời</a:t>
            </a:r>
          </a:p>
        </p:txBody>
      </p:sp>
      <p:sp>
        <p:nvSpPr>
          <p:cNvPr id="14" name="TextBox 13"/>
          <p:cNvSpPr txBox="1"/>
          <p:nvPr/>
        </p:nvSpPr>
        <p:spPr>
          <a:xfrm>
            <a:off x="834062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Kết xuất dữ liệu Excel chuẩn xác theo thời gian thực cho toàn trường hoặc theo từng chi đoàn, phục vụ hội đồng xét học bổng khuyến khích.</a:t>
            </a:r>
          </a:p>
        </p:txBody>
      </p:sp>
      <p:pic>
        <p:nvPicPr>
          <p:cNvPr id="15" name="Picture 14" descr="image.png"/>
          <p:cNvPicPr>
            <a:picLocks noChangeAspect="1"/>
          </p:cNvPicPr>
          <p:nvPr/>
        </p:nvPicPr>
        <p:blipFill>
          <a:blip r:embed="rId9"/>
          <a:stretch>
            <a:fillRect/>
          </a:stretch>
        </p:blipFill>
        <p:spPr>
          <a:xfrm>
            <a:off x="971550" y="2793355"/>
            <a:ext cx="285750" cy="285750"/>
          </a:xfrm>
          <a:prstGeom prst="rect">
            <a:avLst/>
          </a:prstGeom>
        </p:spPr>
      </p:pic>
      <p:pic>
        <p:nvPicPr>
          <p:cNvPr id="16" name="Picture 15" descr="image.png"/>
          <p:cNvPicPr>
            <a:picLocks noChangeAspect="1"/>
          </p:cNvPicPr>
          <p:nvPr/>
        </p:nvPicPr>
        <p:blipFill>
          <a:blip r:embed="rId10"/>
          <a:stretch>
            <a:fillRect/>
          </a:stretch>
        </p:blipFill>
        <p:spPr>
          <a:xfrm>
            <a:off x="4708475" y="2793355"/>
            <a:ext cx="323850" cy="285750"/>
          </a:xfrm>
          <a:prstGeom prst="rect">
            <a:avLst/>
          </a:prstGeom>
        </p:spPr>
      </p:pic>
      <p:pic>
        <p:nvPicPr>
          <p:cNvPr id="17" name="Picture 16" descr="image.png"/>
          <p:cNvPicPr>
            <a:picLocks noChangeAspect="1"/>
          </p:cNvPicPr>
          <p:nvPr/>
        </p:nvPicPr>
        <p:blipFill>
          <a:blip r:embed="rId11"/>
          <a:stretch>
            <a:fillRect/>
          </a:stretch>
        </p:blipFill>
        <p:spPr>
          <a:xfrm>
            <a:off x="8464450" y="2793355"/>
            <a:ext cx="323850" cy="285750"/>
          </a:xfrm>
          <a:prstGeom prst="rect">
            <a:avLst/>
          </a:prstGeom>
        </p:spPr>
      </p:pic>
      <p:sp>
        <p:nvSpPr>
          <p:cNvPr id="18" name="TextBox 17"/>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Làm Chủ Dữ Liệu &amp; Cấu Hình Hệ Thống</a:t>
            </a:r>
          </a:p>
        </p:txBody>
      </p:sp>
      <p:sp>
        <p:nvSpPr>
          <p:cNvPr id="19" name="Rectangle 18"/>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2355205"/>
            <a:ext cx="3517850" cy="2985641"/>
          </a:xfrm>
          <a:prstGeom prst="rect">
            <a:avLst/>
          </a:prstGeom>
        </p:spPr>
      </p:pic>
      <p:pic>
        <p:nvPicPr>
          <p:cNvPr id="3" name="Picture 2" descr="image.png"/>
          <p:cNvPicPr>
            <a:picLocks noChangeAspect="1"/>
          </p:cNvPicPr>
          <p:nvPr/>
        </p:nvPicPr>
        <p:blipFill>
          <a:blip r:embed="rId3"/>
          <a:stretch>
            <a:fillRect/>
          </a:stretch>
        </p:blipFill>
        <p:spPr>
          <a:xfrm>
            <a:off x="4337000" y="2355205"/>
            <a:ext cx="3517850" cy="2985641"/>
          </a:xfrm>
          <a:prstGeom prst="rect">
            <a:avLst/>
          </a:prstGeom>
        </p:spPr>
      </p:pic>
      <p:pic>
        <p:nvPicPr>
          <p:cNvPr id="4" name="Picture 3" descr="image.png"/>
          <p:cNvPicPr>
            <a:picLocks noChangeAspect="1"/>
          </p:cNvPicPr>
          <p:nvPr/>
        </p:nvPicPr>
        <p:blipFill>
          <a:blip r:embed="rId4"/>
          <a:stretch>
            <a:fillRect/>
          </a:stretch>
        </p:blipFill>
        <p:spPr>
          <a:xfrm>
            <a:off x="8092975" y="2355205"/>
            <a:ext cx="3517850" cy="2985641"/>
          </a:xfrm>
          <a:prstGeom prst="rect">
            <a:avLst/>
          </a:prstGeom>
        </p:spPr>
      </p:pic>
      <p:pic>
        <p:nvPicPr>
          <p:cNvPr id="5" name="Picture 4" descr="image.png"/>
          <p:cNvPicPr>
            <a:picLocks noChangeAspect="1"/>
          </p:cNvPicPr>
          <p:nvPr/>
        </p:nvPicPr>
        <p:blipFill>
          <a:blip r:embed="rId5"/>
          <a:stretch>
            <a:fillRect/>
          </a:stretch>
        </p:blipFill>
        <p:spPr>
          <a:xfrm>
            <a:off x="581025" y="519112"/>
            <a:ext cx="257175" cy="342900"/>
          </a:xfrm>
          <a:prstGeom prst="rect">
            <a:avLst/>
          </a:prstGeom>
        </p:spPr>
      </p:pic>
      <p:pic>
        <p:nvPicPr>
          <p:cNvPr id="6" name="Picture 5" descr="image.png"/>
          <p:cNvPicPr>
            <a:picLocks noChangeAspect="1"/>
          </p:cNvPicPr>
          <p:nvPr/>
        </p:nvPicPr>
        <p:blipFill>
          <a:blip r:embed="rId6"/>
          <a:stretch>
            <a:fillRect/>
          </a:stretch>
        </p:blipFill>
        <p:spPr>
          <a:xfrm>
            <a:off x="828675" y="2650480"/>
            <a:ext cx="571500" cy="571500"/>
          </a:xfrm>
          <a:prstGeom prst="rect">
            <a:avLst/>
          </a:prstGeom>
        </p:spPr>
      </p:pic>
      <p:sp>
        <p:nvSpPr>
          <p:cNvPr id="7" name="TextBox 6"/>
          <p:cNvSpPr txBox="1"/>
          <p:nvPr/>
        </p:nvSpPr>
        <p:spPr>
          <a:xfrm>
            <a:off x="82867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Bảo Mật Tuyệt Đối</a:t>
            </a:r>
          </a:p>
        </p:txBody>
      </p:sp>
      <p:sp>
        <p:nvSpPr>
          <p:cNvPr id="8" name="TextBox 7"/>
          <p:cNvSpPr txBox="1"/>
          <p:nvPr/>
        </p:nvSpPr>
        <p:spPr>
          <a:xfrm>
            <a:off x="828675" y="3717280"/>
            <a:ext cx="3022550" cy="1328291"/>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Chấm dứt 100% tình trạng điểm danh hộ và nộp hồ sơ giả mạo (Photoshop/sử dụng lại ảnh cũ) nhờ ma trận chốt chặn GPS, pHash và EXIF.</a:t>
            </a:r>
          </a:p>
        </p:txBody>
      </p:sp>
      <p:pic>
        <p:nvPicPr>
          <p:cNvPr id="9" name="Picture 8" descr="image.png"/>
          <p:cNvPicPr>
            <a:picLocks noChangeAspect="1"/>
          </p:cNvPicPr>
          <p:nvPr/>
        </p:nvPicPr>
        <p:blipFill>
          <a:blip r:embed="rId7"/>
          <a:stretch>
            <a:fillRect/>
          </a:stretch>
        </p:blipFill>
        <p:spPr>
          <a:xfrm>
            <a:off x="4584650" y="2650480"/>
            <a:ext cx="571500" cy="571500"/>
          </a:xfrm>
          <a:prstGeom prst="rect">
            <a:avLst/>
          </a:prstGeom>
        </p:spPr>
      </p:pic>
      <p:sp>
        <p:nvSpPr>
          <p:cNvPr id="10" name="TextBox 9"/>
          <p:cNvSpPr txBox="1"/>
          <p:nvPr/>
        </p:nvSpPr>
        <p:spPr>
          <a:xfrm>
            <a:off x="4584650"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Tối Ưu Vận Hành</a:t>
            </a:r>
          </a:p>
        </p:txBody>
      </p:sp>
      <p:sp>
        <p:nvSpPr>
          <p:cNvPr id="11" name="TextBox 10"/>
          <p:cNvSpPr txBox="1"/>
          <p:nvPr/>
        </p:nvSpPr>
        <p:spPr>
          <a:xfrm>
            <a:off x="4584650" y="3717280"/>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Tự động duyệt hàng ngàn hồ sơ hợp lệ. Kiến trúc Microservices (NodeJS + FastAPI) đảm bảo tải mượt mà khi toàn trường cùng điểm danh.</a:t>
            </a:r>
          </a:p>
        </p:txBody>
      </p:sp>
      <p:pic>
        <p:nvPicPr>
          <p:cNvPr id="12" name="Picture 11" descr="image.png"/>
          <p:cNvPicPr>
            <a:picLocks noChangeAspect="1"/>
          </p:cNvPicPr>
          <p:nvPr/>
        </p:nvPicPr>
        <p:blipFill>
          <a:blip r:embed="rId8"/>
          <a:stretch>
            <a:fillRect/>
          </a:stretch>
        </p:blipFill>
        <p:spPr>
          <a:xfrm>
            <a:off x="8340625" y="2650480"/>
            <a:ext cx="571500" cy="571500"/>
          </a:xfrm>
          <a:prstGeom prst="rect">
            <a:avLst/>
          </a:prstGeom>
        </p:spPr>
      </p:pic>
      <p:sp>
        <p:nvSpPr>
          <p:cNvPr id="13" name="TextBox 12"/>
          <p:cNvSpPr txBox="1"/>
          <p:nvPr/>
        </p:nvSpPr>
        <p:spPr>
          <a:xfrm>
            <a:off x="8340625" y="3393430"/>
            <a:ext cx="3173677" cy="228600"/>
          </a:xfrm>
          <a:prstGeom prst="rect">
            <a:avLst/>
          </a:prstGeom>
          <a:noFill/>
        </p:spPr>
        <p:txBody>
          <a:bodyPr wrap="square" lIns="0" rIns="0" tIns="0" bIns="0" anchor="t">
            <a:spAutoFit/>
          </a:bodyPr>
          <a:lstStyle/>
          <a:p>
            <a:pPr algn="l"/>
            <a:r>
              <a:rPr b="1" sz="1500" i="0" u="none">
                <a:solidFill>
                  <a:srgbClr val="0F172A"/>
                </a:solidFill>
                <a:latin typeface="Urbanist"/>
              </a:rPr>
              <a:t>Công Bằng Học Đường</a:t>
            </a:r>
          </a:p>
        </p:txBody>
      </p:sp>
      <p:sp>
        <p:nvSpPr>
          <p:cNvPr id="14" name="TextBox 13"/>
          <p:cNvSpPr txBox="1"/>
          <p:nvPr/>
        </p:nvSpPr>
        <p:spPr>
          <a:xfrm>
            <a:off x="8340625" y="3717280"/>
            <a:ext cx="3022550" cy="1062632"/>
          </a:xfrm>
          <a:prstGeom prst="rect">
            <a:avLst/>
          </a:prstGeom>
          <a:noFill/>
        </p:spPr>
        <p:txBody>
          <a:bodyPr wrap="square" lIns="0" rIns="0" tIns="0" bIns="0" anchor="t">
            <a:spAutoFit/>
          </a:bodyPr>
          <a:lstStyle/>
          <a:p>
            <a:pPr algn="l">
              <a:lnSpc>
                <a:spcPts val="2092"/>
              </a:lnSpc>
            </a:pPr>
            <a:r>
              <a:rPr b="0" sz="1350" i="0" u="none">
                <a:solidFill>
                  <a:srgbClr val="334155"/>
                </a:solidFill>
                <a:latin typeface="Inter"/>
              </a:rPr>
              <a:t>Dữ liệu minh bạch, tức thời. Giảm 80% áp lực hành chính cho Đoàn - Hội, trao quyền cho sinh viên tự làm chủ tiến trình phấn đấu.</a:t>
            </a:r>
          </a:p>
        </p:txBody>
      </p:sp>
      <p:pic>
        <p:nvPicPr>
          <p:cNvPr id="15" name="Picture 14" descr="image.png"/>
          <p:cNvPicPr>
            <a:picLocks noChangeAspect="1"/>
          </p:cNvPicPr>
          <p:nvPr/>
        </p:nvPicPr>
        <p:blipFill>
          <a:blip r:embed="rId9"/>
          <a:stretch>
            <a:fillRect/>
          </a:stretch>
        </p:blipFill>
        <p:spPr>
          <a:xfrm>
            <a:off x="990600" y="2793355"/>
            <a:ext cx="247650" cy="285750"/>
          </a:xfrm>
          <a:prstGeom prst="rect">
            <a:avLst/>
          </a:prstGeom>
        </p:spPr>
      </p:pic>
      <p:pic>
        <p:nvPicPr>
          <p:cNvPr id="16" name="Picture 15" descr="image.png"/>
          <p:cNvPicPr>
            <a:picLocks noChangeAspect="1"/>
          </p:cNvPicPr>
          <p:nvPr/>
        </p:nvPicPr>
        <p:blipFill>
          <a:blip r:embed="rId10"/>
          <a:stretch>
            <a:fillRect/>
          </a:stretch>
        </p:blipFill>
        <p:spPr>
          <a:xfrm>
            <a:off x="4727525" y="2793355"/>
            <a:ext cx="285750" cy="285750"/>
          </a:xfrm>
          <a:prstGeom prst="rect">
            <a:avLst/>
          </a:prstGeom>
        </p:spPr>
      </p:pic>
      <p:pic>
        <p:nvPicPr>
          <p:cNvPr id="17" name="Picture 16" descr="image.png"/>
          <p:cNvPicPr>
            <a:picLocks noChangeAspect="1"/>
          </p:cNvPicPr>
          <p:nvPr/>
        </p:nvPicPr>
        <p:blipFill>
          <a:blip r:embed="rId11"/>
          <a:stretch>
            <a:fillRect/>
          </a:stretch>
        </p:blipFill>
        <p:spPr>
          <a:xfrm>
            <a:off x="8445400" y="2793355"/>
            <a:ext cx="361950" cy="285750"/>
          </a:xfrm>
          <a:prstGeom prst="rect">
            <a:avLst/>
          </a:prstGeom>
        </p:spPr>
      </p:pic>
      <p:sp>
        <p:nvSpPr>
          <p:cNvPr id="18" name="TextBox 17"/>
          <p:cNvSpPr txBox="1"/>
          <p:nvPr/>
        </p:nvSpPr>
        <p:spPr>
          <a:xfrm>
            <a:off x="981075" y="485775"/>
            <a:ext cx="11161395" cy="438150"/>
          </a:xfrm>
          <a:prstGeom prst="rect">
            <a:avLst/>
          </a:prstGeom>
          <a:noFill/>
        </p:spPr>
        <p:txBody>
          <a:bodyPr wrap="square" lIns="0" rIns="0" tIns="0" bIns="0" anchor="ctr">
            <a:spAutoFit/>
          </a:bodyPr>
          <a:lstStyle/>
          <a:p>
            <a:pPr algn="l"/>
            <a:r>
              <a:rPr b="1" sz="2700" i="0" u="none">
                <a:solidFill>
                  <a:srgbClr val="0F172A"/>
                </a:solidFill>
                <a:latin typeface="Urbanist"/>
              </a:rPr>
              <a:t>Giá Trị Cốt Lõi &amp; Tác Động Thực Tiễn</a:t>
            </a:r>
          </a:p>
        </p:txBody>
      </p:sp>
      <p:sp>
        <p:nvSpPr>
          <p:cNvPr id="19" name="Rectangle 18"/>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81025" y="3051125"/>
            <a:ext cx="3308895" cy="2090291"/>
          </a:xfrm>
          <a:prstGeom prst="rect">
            <a:avLst/>
          </a:prstGeom>
        </p:spPr>
      </p:pic>
      <p:pic>
        <p:nvPicPr>
          <p:cNvPr id="3" name="Picture 2" descr="image.png"/>
          <p:cNvPicPr>
            <a:picLocks noChangeAspect="1"/>
          </p:cNvPicPr>
          <p:nvPr/>
        </p:nvPicPr>
        <p:blipFill>
          <a:blip r:embed="rId3"/>
          <a:stretch>
            <a:fillRect/>
          </a:stretch>
        </p:blipFill>
        <p:spPr>
          <a:xfrm>
            <a:off x="4441477" y="2670125"/>
            <a:ext cx="3308895" cy="2090291"/>
          </a:xfrm>
          <a:prstGeom prst="rect">
            <a:avLst/>
          </a:prstGeom>
        </p:spPr>
      </p:pic>
      <p:pic>
        <p:nvPicPr>
          <p:cNvPr id="4" name="Picture 3" descr="image.png"/>
          <p:cNvPicPr>
            <a:picLocks noChangeAspect="1"/>
          </p:cNvPicPr>
          <p:nvPr/>
        </p:nvPicPr>
        <p:blipFill>
          <a:blip r:embed="rId4"/>
          <a:stretch>
            <a:fillRect/>
          </a:stretch>
        </p:blipFill>
        <p:spPr>
          <a:xfrm>
            <a:off x="8301930" y="3051125"/>
            <a:ext cx="3308895" cy="2355949"/>
          </a:xfrm>
          <a:prstGeom prst="rect">
            <a:avLst/>
          </a:prstGeom>
        </p:spPr>
      </p:pic>
      <p:pic>
        <p:nvPicPr>
          <p:cNvPr id="5" name="Picture 4" descr="image.png"/>
          <p:cNvPicPr>
            <a:picLocks noChangeAspect="1"/>
          </p:cNvPicPr>
          <p:nvPr/>
        </p:nvPicPr>
        <p:blipFill>
          <a:blip r:embed="rId5"/>
          <a:stretch>
            <a:fillRect/>
          </a:stretch>
        </p:blipFill>
        <p:spPr>
          <a:xfrm>
            <a:off x="581025" y="519112"/>
            <a:ext cx="342900" cy="342900"/>
          </a:xfrm>
          <a:prstGeom prst="rect">
            <a:avLst/>
          </a:prstGeom>
        </p:spPr>
      </p:pic>
      <p:sp>
        <p:nvSpPr>
          <p:cNvPr id="6" name="Rounded Rectangle 5"/>
          <p:cNvSpPr/>
          <p:nvPr/>
        </p:nvSpPr>
        <p:spPr>
          <a:xfrm>
            <a:off x="581025" y="4019550"/>
            <a:ext cx="11029950" cy="381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8331" y="3270200"/>
            <a:ext cx="3014282" cy="228600"/>
          </a:xfrm>
          <a:prstGeom prst="rect">
            <a:avLst/>
          </a:prstGeom>
          <a:noFill/>
        </p:spPr>
        <p:txBody>
          <a:bodyPr wrap="square" lIns="0" rIns="0" tIns="0" bIns="0" anchor="t">
            <a:spAutoFit/>
          </a:bodyPr>
          <a:lstStyle/>
          <a:p>
            <a:pPr algn="ctr"/>
            <a:r>
              <a:rPr b="1" sz="1500" i="0" u="none">
                <a:solidFill>
                  <a:srgbClr val="0F172A"/>
                </a:solidFill>
                <a:latin typeface="Urbanist"/>
              </a:rPr>
              <a:t>Ngắn Hạn (Tiện Ích)</a:t>
            </a:r>
          </a:p>
        </p:txBody>
      </p:sp>
      <p:sp>
        <p:nvSpPr>
          <p:cNvPr id="8" name="TextBox 7"/>
          <p:cNvSpPr txBox="1"/>
          <p:nvPr/>
        </p:nvSpPr>
        <p:spPr>
          <a:xfrm>
            <a:off x="800100" y="3594050"/>
            <a:ext cx="2870745" cy="796974"/>
          </a:xfrm>
          <a:prstGeom prst="rect">
            <a:avLst/>
          </a:prstGeom>
          <a:noFill/>
        </p:spPr>
        <p:txBody>
          <a:bodyPr wrap="square" lIns="0" rIns="0" tIns="0" bIns="0" anchor="t">
            <a:spAutoFit/>
          </a:bodyPr>
          <a:lstStyle/>
          <a:p>
            <a:pPr algn="ctr">
              <a:lnSpc>
                <a:spcPts val="2092"/>
              </a:lnSpc>
            </a:pPr>
            <a:r>
              <a:rPr b="0" sz="1350" i="0" u="none">
                <a:solidFill>
                  <a:srgbClr val="334155"/>
                </a:solidFill>
                <a:latin typeface="Inter"/>
              </a:rPr>
              <a:t>• Tích hợp thuật toán Levenshtein Fuzzy Matching tăng khả năng nhận diện tiếng Việt có dấu.</a:t>
            </a:r>
          </a:p>
        </p:txBody>
      </p:sp>
      <p:sp>
        <p:nvSpPr>
          <p:cNvPr id="9" name="TextBox 8"/>
          <p:cNvSpPr txBox="1"/>
          <p:nvPr/>
        </p:nvSpPr>
        <p:spPr>
          <a:xfrm>
            <a:off x="800100" y="4391025"/>
            <a:ext cx="2870745" cy="531316"/>
          </a:xfrm>
          <a:prstGeom prst="rect">
            <a:avLst/>
          </a:prstGeom>
          <a:noFill/>
        </p:spPr>
        <p:txBody>
          <a:bodyPr wrap="square" lIns="0" rIns="0" tIns="0" bIns="0" anchor="t">
            <a:spAutoFit/>
          </a:bodyPr>
          <a:lstStyle/>
          <a:p>
            <a:pPr algn="ctr">
              <a:lnSpc>
                <a:spcPts val="2092"/>
              </a:lnSpc>
            </a:pPr>
            <a:r>
              <a:rPr b="0" sz="1350" i="0" u="none">
                <a:solidFill>
                  <a:srgbClr val="334155"/>
                </a:solidFill>
                <a:latin typeface="Inter"/>
              </a:rPr>
              <a:t>• Tích hợp Redis Caching tối ưu tốc độ phản hồi API.</a:t>
            </a:r>
          </a:p>
        </p:txBody>
      </p:sp>
      <p:sp>
        <p:nvSpPr>
          <p:cNvPr id="10" name="TextBox 9"/>
          <p:cNvSpPr txBox="1"/>
          <p:nvPr/>
        </p:nvSpPr>
        <p:spPr>
          <a:xfrm>
            <a:off x="4588784" y="2889200"/>
            <a:ext cx="3014282" cy="228600"/>
          </a:xfrm>
          <a:prstGeom prst="rect">
            <a:avLst/>
          </a:prstGeom>
          <a:noFill/>
        </p:spPr>
        <p:txBody>
          <a:bodyPr wrap="square" lIns="0" rIns="0" tIns="0" bIns="0" anchor="t">
            <a:spAutoFit/>
          </a:bodyPr>
          <a:lstStyle/>
          <a:p>
            <a:pPr algn="ctr"/>
            <a:r>
              <a:rPr b="1" sz="1500" i="0" u="none">
                <a:solidFill>
                  <a:srgbClr val="0F172A"/>
                </a:solidFill>
                <a:latin typeface="Urbanist"/>
              </a:rPr>
              <a:t>Trung Hạn (Hạ Tầng)</a:t>
            </a:r>
          </a:p>
        </p:txBody>
      </p:sp>
      <p:sp>
        <p:nvSpPr>
          <p:cNvPr id="11" name="TextBox 10"/>
          <p:cNvSpPr txBox="1"/>
          <p:nvPr/>
        </p:nvSpPr>
        <p:spPr>
          <a:xfrm>
            <a:off x="4660552" y="3213050"/>
            <a:ext cx="2870745" cy="531316"/>
          </a:xfrm>
          <a:prstGeom prst="rect">
            <a:avLst/>
          </a:prstGeom>
          <a:noFill/>
        </p:spPr>
        <p:txBody>
          <a:bodyPr wrap="square" lIns="0" rIns="0" tIns="0" bIns="0" anchor="t">
            <a:spAutoFit/>
          </a:bodyPr>
          <a:lstStyle/>
          <a:p>
            <a:pPr algn="ctr">
              <a:lnSpc>
                <a:spcPts val="2092"/>
              </a:lnSpc>
            </a:pPr>
            <a:r>
              <a:rPr b="0" sz="1350" i="0" u="none">
                <a:solidFill>
                  <a:srgbClr val="334155"/>
                </a:solidFill>
                <a:latin typeface="Inter"/>
              </a:rPr>
              <a:t>• Triển khai Docker Containerization cho AI Service.</a:t>
            </a:r>
          </a:p>
        </p:txBody>
      </p:sp>
      <p:sp>
        <p:nvSpPr>
          <p:cNvPr id="12" name="TextBox 11"/>
          <p:cNvSpPr txBox="1"/>
          <p:nvPr/>
        </p:nvSpPr>
        <p:spPr>
          <a:xfrm>
            <a:off x="4660552" y="3744366"/>
            <a:ext cx="2870745" cy="796974"/>
          </a:xfrm>
          <a:prstGeom prst="rect">
            <a:avLst/>
          </a:prstGeom>
          <a:noFill/>
        </p:spPr>
        <p:txBody>
          <a:bodyPr wrap="square" lIns="0" rIns="0" tIns="0" bIns="0" anchor="t">
            <a:spAutoFit/>
          </a:bodyPr>
          <a:lstStyle/>
          <a:p>
            <a:pPr algn="ctr">
              <a:lnSpc>
                <a:spcPts val="2092"/>
              </a:lnSpc>
            </a:pPr>
            <a:r>
              <a:rPr b="0" sz="1350" i="0" u="none">
                <a:solidFill>
                  <a:srgbClr val="334155"/>
                </a:solidFill>
                <a:latin typeface="Inter"/>
              </a:rPr>
              <a:t>• Tích hợp Firebase Cloud Messaging (FCM) gửi thông báo Push Notification màn hình khóa.</a:t>
            </a:r>
          </a:p>
        </p:txBody>
      </p:sp>
      <p:sp>
        <p:nvSpPr>
          <p:cNvPr id="13" name="TextBox 12"/>
          <p:cNvSpPr txBox="1"/>
          <p:nvPr/>
        </p:nvSpPr>
        <p:spPr>
          <a:xfrm>
            <a:off x="8449236" y="3270200"/>
            <a:ext cx="3014282" cy="228600"/>
          </a:xfrm>
          <a:prstGeom prst="rect">
            <a:avLst/>
          </a:prstGeom>
          <a:noFill/>
        </p:spPr>
        <p:txBody>
          <a:bodyPr wrap="square" lIns="0" rIns="0" tIns="0" bIns="0" anchor="t">
            <a:spAutoFit/>
          </a:bodyPr>
          <a:lstStyle/>
          <a:p>
            <a:pPr algn="ctr"/>
            <a:r>
              <a:rPr b="1" sz="1500" i="0" u="none">
                <a:solidFill>
                  <a:srgbClr val="0F172A"/>
                </a:solidFill>
                <a:latin typeface="Urbanist"/>
              </a:rPr>
              <a:t>Dài Hạn (AI Deep Learning)</a:t>
            </a:r>
          </a:p>
        </p:txBody>
      </p:sp>
      <p:sp>
        <p:nvSpPr>
          <p:cNvPr id="14" name="TextBox 13"/>
          <p:cNvSpPr txBox="1"/>
          <p:nvPr/>
        </p:nvSpPr>
        <p:spPr>
          <a:xfrm>
            <a:off x="8521005" y="3594050"/>
            <a:ext cx="2870745" cy="531316"/>
          </a:xfrm>
          <a:prstGeom prst="rect">
            <a:avLst/>
          </a:prstGeom>
          <a:noFill/>
        </p:spPr>
        <p:txBody>
          <a:bodyPr wrap="square" lIns="0" rIns="0" tIns="0" bIns="0" anchor="t">
            <a:spAutoFit/>
          </a:bodyPr>
          <a:lstStyle/>
          <a:p>
            <a:pPr algn="ctr">
              <a:lnSpc>
                <a:spcPts val="2092"/>
              </a:lnSpc>
            </a:pPr>
            <a:r>
              <a:rPr b="0" sz="1350" i="0" u="none">
                <a:solidFill>
                  <a:srgbClr val="334155"/>
                </a:solidFill>
                <a:latin typeface="Inter"/>
              </a:rPr>
              <a:t>• Tích hợp RabbitMQ xử lý hàng đợi bất đồng bộ.</a:t>
            </a:r>
          </a:p>
        </p:txBody>
      </p:sp>
      <p:sp>
        <p:nvSpPr>
          <p:cNvPr id="15" name="TextBox 14"/>
          <p:cNvSpPr txBox="1"/>
          <p:nvPr/>
        </p:nvSpPr>
        <p:spPr>
          <a:xfrm>
            <a:off x="8521005" y="4125366"/>
            <a:ext cx="2870745" cy="1062632"/>
          </a:xfrm>
          <a:prstGeom prst="rect">
            <a:avLst/>
          </a:prstGeom>
          <a:noFill/>
        </p:spPr>
        <p:txBody>
          <a:bodyPr wrap="square" lIns="0" rIns="0" tIns="0" bIns="0" anchor="t">
            <a:spAutoFit/>
          </a:bodyPr>
          <a:lstStyle/>
          <a:p>
            <a:pPr algn="ctr">
              <a:lnSpc>
                <a:spcPts val="2092"/>
              </a:lnSpc>
            </a:pPr>
            <a:r>
              <a:rPr b="0" sz="1350" i="0" u="none">
                <a:solidFill>
                  <a:srgbClr val="334155"/>
                </a:solidFill>
                <a:latin typeface="Inter"/>
              </a:rPr>
              <a:t>• Huấn luyện mô hình PaddleOCR/EasyOCR chuyên biệt cho biểu mẫu chứng chỉ sinh viên Việt Nam.</a:t>
            </a:r>
          </a:p>
        </p:txBody>
      </p:sp>
      <p:sp>
        <p:nvSpPr>
          <p:cNvPr id="16" name="TextBox 15"/>
          <p:cNvSpPr txBox="1"/>
          <p:nvPr/>
        </p:nvSpPr>
        <p:spPr>
          <a:xfrm>
            <a:off x="1066800" y="485775"/>
            <a:ext cx="11071383" cy="438150"/>
          </a:xfrm>
          <a:prstGeom prst="rect">
            <a:avLst/>
          </a:prstGeom>
          <a:noFill/>
        </p:spPr>
        <p:txBody>
          <a:bodyPr wrap="square" lIns="0" rIns="0" tIns="0" bIns="0" anchor="ctr">
            <a:spAutoFit/>
          </a:bodyPr>
          <a:lstStyle/>
          <a:p>
            <a:pPr algn="l"/>
            <a:r>
              <a:rPr b="1" sz="2700" i="0" u="none">
                <a:solidFill>
                  <a:srgbClr val="0F172A"/>
                </a:solidFill>
                <a:latin typeface="Urbanist"/>
              </a:rPr>
              <a:t>Tầm Nhìn &amp; Lộ Trình Phát Triển Mở Rộng</a:t>
            </a:r>
          </a:p>
        </p:txBody>
      </p:sp>
      <p:sp>
        <p:nvSpPr>
          <p:cNvPr id="17" name="Rectangle 16"/>
          <p:cNvSpPr/>
          <p:nvPr/>
        </p:nvSpPr>
        <p:spPr>
          <a:xfrm>
            <a:off x="581025" y="1009650"/>
            <a:ext cx="11029950" cy="28575"/>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121172" y="3924300"/>
            <a:ext cx="228600" cy="228600"/>
          </a:xfrm>
          <a:prstGeom prst="roundRect">
            <a:avLst>
              <a:gd name="adj" fmla="val 50000"/>
            </a:avLst>
          </a:prstGeom>
          <a:solidFill>
            <a:srgbClr val="FFFFFF"/>
          </a:solidFill>
          <a:ln w="381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81625" y="3924300"/>
            <a:ext cx="228600" cy="228600"/>
          </a:xfrm>
          <a:prstGeom prst="roundRect">
            <a:avLst>
              <a:gd name="adj" fmla="val 50000"/>
            </a:avLst>
          </a:prstGeom>
          <a:solidFill>
            <a:srgbClr val="FFFFFF"/>
          </a:solidFill>
          <a:ln w="381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842078" y="3924300"/>
            <a:ext cx="228600" cy="228600"/>
          </a:xfrm>
          <a:prstGeom prst="roundRect">
            <a:avLst>
              <a:gd name="adj" fmla="val 50000"/>
            </a:avLst>
          </a:prstGeom>
          <a:solidFill>
            <a:srgbClr val="FFFFFF"/>
          </a:solidFill>
          <a:ln w="381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885950" y="3460105"/>
            <a:ext cx="8420100" cy="1472207"/>
          </a:xfrm>
          <a:prstGeom prst="rect">
            <a:avLst/>
          </a:prstGeom>
        </p:spPr>
      </p:pic>
      <p:sp>
        <p:nvSpPr>
          <p:cNvPr id="4" name="TextBox 3"/>
          <p:cNvSpPr txBox="1"/>
          <p:nvPr/>
        </p:nvSpPr>
        <p:spPr>
          <a:xfrm>
            <a:off x="682670" y="1925687"/>
            <a:ext cx="10826509" cy="685800"/>
          </a:xfrm>
          <a:prstGeom prst="rect">
            <a:avLst/>
          </a:prstGeom>
          <a:noFill/>
        </p:spPr>
        <p:txBody>
          <a:bodyPr wrap="square" lIns="0" rIns="0" tIns="0" bIns="0" anchor="t">
            <a:spAutoFit/>
          </a:bodyPr>
          <a:lstStyle/>
          <a:p>
            <a:pPr algn="ctr">
              <a:defRPr/>
            </a:pPr>
            <a:r>
              <a:rPr b="1" sz="4500" i="0" u="none">
                <a:solidFill>
                  <a:srgbClr val="FFFFFF"/>
                </a:solidFill>
                <a:latin typeface="Urbanist"/>
              </a:rPr>
              <a:t>CẢM ƠN QUÝ THẦY CÔ VÀ HỘI ĐỒNG!</a:t>
            </a:r>
          </a:p>
        </p:txBody>
      </p:sp>
      <p:sp>
        <p:nvSpPr>
          <p:cNvPr id="5" name="TextBox 4"/>
          <p:cNvSpPr txBox="1"/>
          <p:nvPr/>
        </p:nvSpPr>
        <p:spPr>
          <a:xfrm>
            <a:off x="1990725" y="2801987"/>
            <a:ext cx="8210550" cy="324742"/>
          </a:xfrm>
          <a:prstGeom prst="rect">
            <a:avLst/>
          </a:prstGeom>
          <a:noFill/>
        </p:spPr>
        <p:txBody>
          <a:bodyPr wrap="square" lIns="0" rIns="0" tIns="0" bIns="0" anchor="t">
            <a:spAutoFit/>
          </a:bodyPr>
          <a:lstStyle/>
          <a:p>
            <a:pPr algn="ctr">
              <a:lnSpc>
                <a:spcPts val="2557"/>
              </a:lnSpc>
            </a:pPr>
            <a:r>
              <a:rPr b="0" sz="1650" i="0" u="none">
                <a:solidFill>
                  <a:srgbClr val="CBD5E1"/>
                </a:solidFill>
                <a:latin typeface="Inter"/>
              </a:rPr>
              <a:t>Đồ án: Hệ thống Quản lý Sự kiện &amp; Tự động hóa Duyệt Minh chứng Điểm Rèn Luyện</a:t>
            </a:r>
          </a:p>
        </p:txBody>
      </p:sp>
      <p:pic>
        <p:nvPicPr>
          <p:cNvPr id="6" name="Picture 5" descr="image.png"/>
          <p:cNvPicPr>
            <a:picLocks noChangeAspect="1"/>
          </p:cNvPicPr>
          <p:nvPr/>
        </p:nvPicPr>
        <p:blipFill>
          <a:blip r:embed="rId4"/>
          <a:stretch>
            <a:fillRect/>
          </a:stretch>
        </p:blipFill>
        <p:spPr>
          <a:xfrm>
            <a:off x="2428875" y="3774430"/>
            <a:ext cx="228600" cy="180975"/>
          </a:xfrm>
          <a:prstGeom prst="rect">
            <a:avLst/>
          </a:prstGeom>
        </p:spPr>
      </p:pic>
      <p:pic>
        <p:nvPicPr>
          <p:cNvPr id="7" name="Picture 6" descr="image.png"/>
          <p:cNvPicPr>
            <a:picLocks noChangeAspect="1"/>
          </p:cNvPicPr>
          <p:nvPr/>
        </p:nvPicPr>
        <p:blipFill>
          <a:blip r:embed="rId5"/>
          <a:stretch>
            <a:fillRect/>
          </a:stretch>
        </p:blipFill>
        <p:spPr>
          <a:xfrm>
            <a:off x="2324100" y="4425701"/>
            <a:ext cx="228600" cy="1809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