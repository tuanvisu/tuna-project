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4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4.png"/><Relationship Id="rId7" Type="http://schemas.openxmlformats.org/officeDocument/2006/relationships/image" Target="../media/image33.png"/><Relationship Id="rId8" Type="http://schemas.openxmlformats.org/officeDocument/2006/relationships/image" Target="../media/image23.png"/><Relationship Id="rId9" Type="http://schemas.openxmlformats.org/officeDocument/2006/relationships/image" Target="../media/image25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.png"/><Relationship Id="rId5" Type="http://schemas.openxmlformats.org/officeDocument/2006/relationships/image" Target="../media/image4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3.png"/><Relationship Id="rId4" Type="http://schemas.openxmlformats.org/officeDocument/2006/relationships/image" Target="../media/image4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4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5.png"/><Relationship Id="rId4" Type="http://schemas.openxmlformats.org/officeDocument/2006/relationships/image" Target="../media/image4.png"/><Relationship Id="rId5" Type="http://schemas.openxmlformats.org/officeDocument/2006/relationships/image" Target="../media/image6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1.png"/><Relationship Id="rId4" Type="http://schemas.openxmlformats.org/officeDocument/2006/relationships/image" Target="../media/image4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4.png"/><Relationship Id="rId7" Type="http://schemas.openxmlformats.org/officeDocument/2006/relationships/image" Target="../media/image9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4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1.png"/><Relationship Id="rId4" Type="http://schemas.openxmlformats.org/officeDocument/2006/relationships/image" Target="../media/image4.png"/><Relationship Id="rId5" Type="http://schemas.openxmlformats.org/officeDocument/2006/relationships/image" Target="../media/image10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66145"/>
            <a:ext cx="5079950" cy="619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6250"/>
            <a:ext cx="11049000" cy="590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481762"/>
            <a:ext cx="29146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CTUT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 - Trường ĐH Kỹ thuật Công nghệ Cần Thơ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81762"/>
            <a:ext cx="7239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01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072729"/>
            <a:ext cx="5333947" cy="1007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b="1" sz="3450" i="0" u="none">
                <a:solidFill>
                  <a:srgbClr val="0F172A"/>
                </a:solidFill>
                <a:latin typeface="Plus Jakarta Sans"/>
              </a:rPr>
              <a:t>Gợi ý việc làm bằng </a:t>
            </a:r>
            <a:r>
              <a:rPr b="1" sz="3450" i="0" u="none">
                <a:solidFill>
                  <a:srgbClr val="C2410C"/>
                </a:solidFill>
                <a:latin typeface="Plus Jakarta Sans"/>
              </a:rPr>
              <a:t>Trí tuệ Nhân tạo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308895"/>
            <a:ext cx="50799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Cá nhân hóa hành trình sự nghiệp cho sinh viên qua mô hình AI Hybrid minh bạch và tối ưu.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4404270"/>
            <a:ext cx="1809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9237" y="2419350"/>
            <a:ext cx="1533525" cy="400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87661" y="2933700"/>
            <a:ext cx="8416676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850"/>
              </a:lnSpc>
            </a:pPr>
            <a:r>
              <a:rPr b="1" sz="3900" i="0" u="none">
                <a:solidFill>
                  <a:srgbClr val="0F172A"/>
                </a:solidFill>
                <a:latin typeface="Plus Jakarta Sans"/>
              </a:rPr>
              <a:t>Tổng quan về Đề tài &amp; Tính cấp thiết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867150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Phân tích bối cảnh kết nối cung - cầu lao động trẻ và những rào cản thực tế trong tuyển dụng sinh viên.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481762"/>
            <a:ext cx="16383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1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Tổng quan đề tài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8025" y="6481762"/>
            <a:ext cx="752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1125"/>
            <a:ext cx="5381625" cy="5000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381125"/>
            <a:ext cx="5381625" cy="5000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200" y="561975"/>
            <a:ext cx="1257300" cy="31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81762"/>
            <a:ext cx="16383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1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Tổng quan đề tài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8025" y="6481762"/>
            <a:ext cx="752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03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5685" y="1695450"/>
            <a:ext cx="466527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Nỗi đau của Sinh viên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4485" y="1695450"/>
            <a:ext cx="4695274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Nỗi đau của Doanh nghiệp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1752600"/>
            <a:ext cx="19556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4425" y="2190750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Lạc lối giữa biển thông tin tuyển dụng đại trà trên mạng xã hội.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2790825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Thiếu kinh nghiệm thực tế để tự đánh giá mức độ phù hợp với công việc.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3390900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Đánh mất cơ hội vì tìm kiếm bằng từ khóa không khớp với mô tả JD.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25" y="3990975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Khó tiếp cận các cơ hội thực tập/việc làm bán thời gian uy tín.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1752600"/>
            <a:ext cx="166985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81800" y="2190750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Tốn hàng giờ để lọc bỏ những hồ sơ rác, CV không liên quan.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2790825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Khó tiếp cận đúng nguồn nhân lực sinh viên tiềm năng theo ngành.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3390900"/>
            <a:ext cx="4524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Thiếu công cụ sàng lọc tự động dựa trên kỹ năng cốt lõi.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3748087"/>
            <a:ext cx="4524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Tỷ lệ phản hồi ứng viên thấp do thông tin thiếu minh bạch.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2152650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2752725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3352800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825" y="3952875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200" y="2152650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200" y="2752725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0" y="3352800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0" y="3709987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Rào cản lớn trong kết nối tuyển dụng thủ công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14612"/>
            <a:ext cx="11049000" cy="2533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875" y="561975"/>
            <a:ext cx="809625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481762"/>
            <a:ext cx="1781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1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Khảo sát &amp; So sánh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8025" y="6481762"/>
            <a:ext cx="752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04 / 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1025" y="2624137"/>
          <a:ext cx="11029947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30610"/>
                <a:gridCol w="2154435"/>
                <a:gridCol w="2195661"/>
                <a:gridCol w="1948160"/>
                <a:gridCol w="270108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Tiêu chí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TopCV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VietnamWorks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LinkedIn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Hệ thống Đề xuất (CTUT)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Đối tượng chính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Người lao động chung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Nhân sự trung/cao cấp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Toàn cầu, đa ngành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2410C"/>
                          </a:solidFill>
                          <a:latin typeface="Inter SemiBold"/>
                        </a:rPr>
                        <a:t>Sinh viên, thực tập sinh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Gợi ý AI minh bạch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Ẩn thuật toán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Hạn chế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Phức tạp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2410C"/>
                          </a:solidFill>
                          <a:latin typeface="Inter SemiBold"/>
                        </a:rPr>
                        <a:t>Mô hình Hybrid minh bạch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Tối ưu cho Thực tập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Trung bình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Thấp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Thấp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2410C"/>
                          </a:solidFill>
                          <a:latin typeface="Inter SemiBold"/>
                        </a:rPr>
                        <a:t>Chuyên biệt 100%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Quản lý Học đường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Không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Không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Không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2410C"/>
                          </a:solidFill>
                          <a:latin typeface="Inter SemiBold"/>
                        </a:rPr>
                        <a:t>Tích hợp Nhà trường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81025" y="3114675"/>
            <a:ext cx="203061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11635" y="3114675"/>
            <a:ext cx="215443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66071" y="3114675"/>
            <a:ext cx="21956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61733" y="3114675"/>
            <a:ext cx="19481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09893" y="3114675"/>
            <a:ext cx="270108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3619500"/>
            <a:ext cx="203061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1635" y="3619500"/>
            <a:ext cx="215443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66071" y="3619500"/>
            <a:ext cx="21956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61733" y="3619500"/>
            <a:ext cx="19481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9893" y="3619500"/>
            <a:ext cx="270108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1025" y="4124325"/>
            <a:ext cx="203061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11635" y="4124325"/>
            <a:ext cx="215443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66071" y="4124325"/>
            <a:ext cx="21956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61733" y="4124325"/>
            <a:ext cx="19481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9893" y="4124325"/>
            <a:ext cx="270108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1025" y="4629150"/>
            <a:ext cx="203061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11635" y="4629150"/>
            <a:ext cx="215443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66071" y="4629150"/>
            <a:ext cx="21956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1733" y="4629150"/>
            <a:ext cx="19481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09893" y="4629150"/>
            <a:ext cx="270108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0393" y="4814887"/>
            <a:ext cx="15240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2233" y="4310062"/>
            <a:ext cx="15240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2135" y="3805237"/>
            <a:ext cx="15240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0393" y="4310062"/>
            <a:ext cx="15240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571" y="4310062"/>
            <a:ext cx="15240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2135" y="4814887"/>
            <a:ext cx="15240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0393" y="3805237"/>
            <a:ext cx="15240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2135" y="4310062"/>
            <a:ext cx="15240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571" y="4814887"/>
            <a:ext cx="152400" cy="152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571" y="3805237"/>
            <a:ext cx="152400" cy="1524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2233" y="3805237"/>
            <a:ext cx="152400" cy="1524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2233" y="4814887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2135" y="3805237"/>
            <a:ext cx="1524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571" y="3805237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2233" y="3805237"/>
            <a:ext cx="152400" cy="152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0393" y="3805237"/>
            <a:ext cx="152400" cy="152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2135" y="4310062"/>
            <a:ext cx="152400" cy="1524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571" y="4310062"/>
            <a:ext cx="152400" cy="1524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2233" y="4310062"/>
            <a:ext cx="152400" cy="1524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0393" y="4310062"/>
            <a:ext cx="152400" cy="1524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2135" y="4814887"/>
            <a:ext cx="152400" cy="1524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571" y="4814887"/>
            <a:ext cx="152400" cy="1524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2233" y="4814887"/>
            <a:ext cx="152400" cy="1524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0393" y="4814887"/>
            <a:ext cx="152400" cy="1524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Khoảng trống thị trường của các nền tảng hiện tại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86050"/>
            <a:ext cx="3530649" cy="2390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686050"/>
            <a:ext cx="3530649" cy="2390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686050"/>
            <a:ext cx="3530649" cy="2390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1850" y="561975"/>
            <a:ext cx="628650" cy="314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6481762"/>
            <a:ext cx="1514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1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Mục tiêu đề tài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8025" y="6481762"/>
            <a:ext cx="752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05 / 25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2962275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7725" y="3686175"/>
            <a:ext cx="312710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Plus Jakarta Sans"/>
              </a:rPr>
              <a:t>Nghiên cứu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114800"/>
            <a:ext cx="29781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Nghiên cứu lý thuyết Hệ gợi ý (Content-Based, Knowledge-Based, Collaborative Filtering) và kỹ thuật học máy.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6974" y="2962275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06974" y="3686175"/>
            <a:ext cx="312710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Plus Jakarta Sans"/>
              </a:rPr>
              <a:t>Xây dựng Mô hình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974" y="4114800"/>
            <a:ext cx="29781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Thiết kế mô hình Hybrid gợi ý theo thang 100 điểm, kết hợp xử lý ngôn ngữ tự nhiên tiếng Việt TF-IDF.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6224" y="2962275"/>
            <a:ext cx="533400" cy="533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66224" y="3686175"/>
            <a:ext cx="312710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Plus Jakarta Sans"/>
              </a:rPr>
              <a:t>Triển khai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4114800"/>
            <a:ext cx="29781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Xây dựng cổng thông tin đầy đủ chức năng với kiến trúc vi dịch vụ kép (PHP 8.3 Portal + Python Flask AI Service).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125" y="3114675"/>
            <a:ext cx="22860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5087" y="3114675"/>
            <a:ext cx="257175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0049" y="3114675"/>
            <a:ext cx="28575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Mục tiêu &amp; Nhiệm vụ nghiên cứu trọng tâm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187" y="2419350"/>
            <a:ext cx="1571625" cy="400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87940" y="2933700"/>
            <a:ext cx="901597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850"/>
              </a:lnSpc>
            </a:pPr>
            <a:r>
              <a:rPr b="1" sz="3900" i="0" u="none">
                <a:solidFill>
                  <a:srgbClr val="0F172A"/>
                </a:solidFill>
                <a:latin typeface="Plus Jakarta Sans"/>
              </a:rPr>
              <a:t>Cơ sở Lý thuyết &amp; Kiến trúc Thuật toán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867150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Nền tảng toán học, xử lý ngôn ngữ tự nhiên và cấu trúc tính điểm của mô hình gợi ý Hybrid.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481762"/>
            <a:ext cx="15525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2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Cơ sở lý thuyết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8025" y="6481762"/>
            <a:ext cx="752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06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1750"/>
            <a:ext cx="2590800" cy="2619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00" y="2571750"/>
            <a:ext cx="2590800" cy="2619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571750"/>
            <a:ext cx="2590800" cy="2619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571750"/>
            <a:ext cx="2590800" cy="2619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1350" y="561975"/>
            <a:ext cx="819150" cy="314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6481762"/>
            <a:ext cx="19240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2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Hệ sinh thái 4 Trụ cột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77550" y="6481762"/>
            <a:ext cx="7429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07 / 25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2847975"/>
            <a:ext cx="533400" cy="53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7725" y="3571875"/>
            <a:ext cx="214026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Plus Jakarta Sans"/>
              </a:rPr>
              <a:t>1. Sinh viên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00500"/>
            <a:ext cx="20383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Tạo hồ sơ kỹ năng, nhận gợi ý việc làm cá nhân hóa, nộp CV trực tuyến và theo dõi trạng thái ứng tuyển.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7125" y="2847975"/>
            <a:ext cx="533400" cy="533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67125" y="3571875"/>
            <a:ext cx="214026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Plus Jakarta Sans"/>
              </a:rPr>
              <a:t>2. Doanh nghiệp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7125" y="4000500"/>
            <a:ext cx="20383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Đăng tin tuyển dụng, tiếp cận ứng viên trúng đích, quản lý CV tập trung và lên lịch phỏng vấn.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2847975"/>
            <a:ext cx="533400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86525" y="3571875"/>
            <a:ext cx="214026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Plus Jakarta Sans"/>
              </a:rPr>
              <a:t>3. Giảng viên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4000500"/>
            <a:ext cx="20383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Theo dõi tình hình việc làm của sinh viên, tổ chức các sự kiện hướng nghiệp và kết nối doanh nghiệp.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5925" y="2847975"/>
            <a:ext cx="533400" cy="533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05925" y="3571875"/>
            <a:ext cx="214026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Plus Jakarta Sans"/>
              </a:rPr>
              <a:t>4. Quản trị viên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5925" y="4000500"/>
            <a:ext cx="20383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Kiểm duyệt doanh nghiệp, thẩm định tin đăng, quản trị hệ thống và xuất báo cáo thống kê.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412" y="3000375"/>
            <a:ext cx="200025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8100" y="3000375"/>
            <a:ext cx="171450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0350" y="3000375"/>
            <a:ext cx="285750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29750" y="3000375"/>
            <a:ext cx="28575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Hệ sinh thái 4 Trụ cột kết nối toàn diện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1125"/>
            <a:ext cx="5381625" cy="5000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381125"/>
            <a:ext cx="5381625" cy="5000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2775" y="561975"/>
            <a:ext cx="847725" cy="31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81762"/>
            <a:ext cx="17907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2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Kiến trúc vi dịch vụ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8025" y="6481762"/>
            <a:ext cx="752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08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1410" y="1695450"/>
            <a:ext cx="457525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1E3A8A"/>
                </a:solidFill>
                <a:latin typeface="Plus Jakarta Sans"/>
              </a:rPr>
              <a:t> Lớp Ứng dụng Web (PHP + MySQL)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3060" y="1695450"/>
            <a:ext cx="466527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C2410C"/>
                </a:solidFill>
                <a:latin typeface="Plus Jakarta Sans"/>
              </a:rPr>
              <a:t> Lớp Dịch vụ AI (Python + Flask)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1752600"/>
            <a:ext cx="28128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4425" y="2190750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Giao diện người dùng (UI):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Đăng ký, đăng nhập Google, tìm kiếm, tương tác.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2790825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Luồng nghiệp vụ (Business Logic):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Quản lý hồ sơ, đơn ứng tuyển, sự kiện.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3390900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Quản trị dữ liệu: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Tương tác trực tiếp với cơ sở dữ liệu quan hệ MySQL.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1752600"/>
            <a:ext cx="19556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81800" y="2190750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Thuật toán Machine Learning: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TF-IDF Vectorizer &amp; Cosine Similarity.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2790825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Tính toán ma trận: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Xử lý dữ liệu lớn bằng Pandas &amp; Scikit-Learn.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3390900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Giao tiếp RESTful API: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Trả kết quả JSON tính toán dưới 1 giây.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2152650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2752725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3352800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2152650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0" y="2752725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3352800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Kiến trúc Vi dịch vụ kép (Dual Microservices)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1125"/>
            <a:ext cx="11049000" cy="5000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7050" y="561975"/>
            <a:ext cx="933450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481762"/>
            <a:ext cx="1571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2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Mô hình Hybrid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8025" y="6481762"/>
            <a:ext cx="752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09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100 Điểm Tương thích: Mô hình Gợi ý Hybrid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74381"/>
            <a:ext cx="5381625" cy="5191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381125"/>
            <a:ext cx="5381625" cy="5000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0" y="561975"/>
            <a:ext cx="1047750" cy="31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81762"/>
            <a:ext cx="12287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2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Xử lý NLP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6600" y="6481762"/>
            <a:ext cx="7239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10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669381"/>
            <a:ext cx="565070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Quy trình đo lường sự tương đồng văn bản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164681"/>
            <a:ext cx="5381625" cy="242887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Làm sạch Dữ liệu: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Loại bỏ từ dừng tiếng Việt (và, của, là...).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521868"/>
            <a:ext cx="5381625" cy="485775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Ma trận hóa TF-IDF: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Chuyển văn bản Kỹ năng &amp; JD thành véc-tơ số.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121943"/>
            <a:ext cx="5381625" cy="242887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Cosine Similarity: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Đo góc $\theta$ giữa véc-tơ Hồ sơ &amp; Yêu cầu.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390650"/>
            <a:ext cx="5362575" cy="49815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193256"/>
            <a:ext cx="14287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550443"/>
            <a:ext cx="14287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150518"/>
            <a:ext cx="142875" cy="1619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Xử lý Ngôn ngữ Tự nhiên &amp; Cosine Similarity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1125"/>
            <a:ext cx="5381625" cy="5000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381125"/>
            <a:ext cx="5381625" cy="5000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2775" y="561975"/>
            <a:ext cx="847725" cy="31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81762"/>
            <a:ext cx="17716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2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Cold-Start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5175" y="6481762"/>
            <a:ext cx="6953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11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4260" y="1695450"/>
            <a:ext cx="4635266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Luật Tri thức (Tức thì)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190750"/>
            <a:ext cx="475297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Ngay khi sinh viên vừa lập tài khoản và chưa có lịch sử click, hệ thống vẫn gợi ý chính xác nhờ gán trọng số tuyệt đối vào sự trùng khớp nguyên tắc: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8785" y="1695450"/>
            <a:ext cx="457525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Trí tuệ Đám đông (Xu hướng)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190750"/>
            <a:ext cx="47529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Hệ thống ngầm theo dõi tín hiệu từ cộng đồng sinh viên cùng ngành: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1752600"/>
            <a:ext cx="22413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4425" y="3033712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Trùng khớp Ngành học sinh viên với Ngành tuyển dụng (+25đ).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25" y="3633787"/>
            <a:ext cx="4524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Trùng khớp Địa điểm sinh viên sinh sống (+10đ).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1752600"/>
            <a:ext cx="281285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81800" y="2790825"/>
            <a:ext cx="4524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Đếm số lượt ứng tuyển cùng ngành (Min-Max Scaling).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3148012"/>
            <a:ext cx="4524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Đếm tổng số lượt tương tác/xem tin tuyển dụng.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3505200"/>
            <a:ext cx="4524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Tự động đẩy các công việc đang hot lên top đầu.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2995612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3595687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2752725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0" y="3109912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3467100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Giải quyết triệt để bài toán Khởi động nguội (Cold-Start)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187" y="2419350"/>
            <a:ext cx="1571625" cy="400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21346" y="2933700"/>
            <a:ext cx="6949306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850"/>
              </a:lnSpc>
            </a:pPr>
            <a:r>
              <a:rPr b="1" sz="3900" i="0" u="none">
                <a:solidFill>
                  <a:srgbClr val="0F172A"/>
                </a:solidFill>
                <a:latin typeface="Plus Jakarta Sans"/>
              </a:rPr>
              <a:t>Phân tích &amp; Thiết kế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867150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Đặc tả yêu cầu chức năng, sơ đồ Use Case, Activity Diagram và cấu trúc Cơ sở dữ liệu quan hệ.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481762"/>
            <a:ext cx="16764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3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Phân tích thiết kế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6600" y="6481762"/>
            <a:ext cx="7239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38425"/>
            <a:ext cx="11049000" cy="2486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8025" y="561975"/>
            <a:ext cx="752475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481762"/>
            <a:ext cx="17049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3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Yêu cầu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81762"/>
            <a:ext cx="7239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13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4925" y="2952750"/>
            <a:ext cx="99250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Quản lý Tài khoản &amp; Phân quyền: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Hỗ trợ 4 vai trò (Sinh viên, Doanh nghiệp, Giảng viên, Admin) với xác thực Google OAuth.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925" y="3657600"/>
            <a:ext cx="99250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Đăng tin &amp; Kiểm duyệt: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Doanh nghiệp đăng tin chi tiết kỹ năng; Admin duyệt tin trước khi hiển thị công khai.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4925" y="4105275"/>
            <a:ext cx="99250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Gợi ý AI Cá nhân hóa: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Tự động xếp hạng tin tuyển dụng dựa trên điểm khớp kỹ năng và vị trí địa lý.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4925" y="4552950"/>
            <a:ext cx="99250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Hiệu năng &amp; An toàn: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Phản hồi API dưới 1 giây, cơ chế Fallback UI tự phục hồi khi AI Service gián đoạn.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2986087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690937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4138612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4586287"/>
            <a:ext cx="190500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Đặc tả Yêu cầu Chức năng &amp; Phi chức năng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419475"/>
            <a:ext cx="41910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305" y="3419475"/>
            <a:ext cx="4191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985" y="3419475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666" y="3419475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181350"/>
            <a:ext cx="2430660" cy="1781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4180" y="3181350"/>
            <a:ext cx="2430660" cy="1781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6860" y="3181350"/>
            <a:ext cx="2430660" cy="1781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89541" y="3181350"/>
            <a:ext cx="2430660" cy="1781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25150" y="561975"/>
            <a:ext cx="895350" cy="3143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6481762"/>
            <a:ext cx="18288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3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Quy trình nghiệp vụ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96600" y="6481762"/>
            <a:ext cx="7239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14 / 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23950" y="4052887"/>
            <a:ext cx="99441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625" y="3990975"/>
            <a:ext cx="205213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1. Tạo 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4324350"/>
            <a:ext cx="195441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Doanh nghiệp đăng tin tuyển dụng kèm kỹ năng yêu cầu.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2305" y="3990975"/>
            <a:ext cx="205213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2. Duyệt 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2305" y="4324350"/>
            <a:ext cx="195441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Admin thẩm định nội dung tin tuyển dụng hợp lệ.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4985" y="3990975"/>
            <a:ext cx="205213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3. AI Gợi 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4985" y="4324350"/>
            <a:ext cx="195441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Flask Service tính điểm khớp % hiển thị cho sinh viên.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666" y="3990975"/>
            <a:ext cx="205213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4. Ứng tuyển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666" y="4324350"/>
            <a:ext cx="195441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Sinh viên nộp CV PDF, Doanh nghiệp xét duyệt &amp; phỏng vấn.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Quy trình Đăng tin, Gợi ý &amp; Ứng tuyển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2200"/>
            <a:ext cx="11049000" cy="3038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4675" y="561975"/>
            <a:ext cx="885825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481762"/>
            <a:ext cx="14954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3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Thiết kế CSDL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81762"/>
            <a:ext cx="7239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15 / 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1025" y="2371725"/>
          <a:ext cx="11029948" cy="301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95053"/>
                <a:gridCol w="3561605"/>
                <a:gridCol w="5373290"/>
              </a:tblGrid>
              <a:tr h="50323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Tên Bảng CSDL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Chức năng Chính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Trường Dữ liệu Cốt lõi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0323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users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Tài khoản &amp; Phân quyền 4 vai trò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id, email, password, role, google_id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323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student_profiles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Hồ sơ sinh viên (Nguồn AI)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user_id, major, skills, gpa, address, cv_path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323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job_posts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Tin tuyển dụng (Nguồn AI)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company_id, title, skills, industry, location, deadline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323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applications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Đơn ứng tuyển &amp; Trạng thái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student_id, job_post_id, cv_path, status, interview_at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324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job_interactions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Ghi nhận hành vi (Collaborative)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student_id, job_post_id, interaction_type (view/save)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81025" y="2862262"/>
            <a:ext cx="20950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76078" y="2862262"/>
            <a:ext cx="35616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7684" y="2862262"/>
            <a:ext cx="537329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025" y="3367087"/>
            <a:ext cx="20950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6078" y="3367087"/>
            <a:ext cx="35616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7684" y="3367087"/>
            <a:ext cx="537329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1025" y="3871912"/>
            <a:ext cx="20950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76078" y="3871912"/>
            <a:ext cx="35616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7684" y="3871912"/>
            <a:ext cx="537329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1025" y="4376737"/>
            <a:ext cx="20950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76078" y="4376737"/>
            <a:ext cx="35616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7684" y="4376737"/>
            <a:ext cx="537329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1025" y="4881562"/>
            <a:ext cx="20950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76078" y="4881562"/>
            <a:ext cx="35616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7684" y="4881562"/>
            <a:ext cx="537329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Cấu trúc Cơ sở Dữ liệu Quan hệ (17 Bảng)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425" y="2419350"/>
            <a:ext cx="1581150" cy="400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9079" y="2933700"/>
            <a:ext cx="10733841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850"/>
              </a:lnSpc>
            </a:pPr>
            <a:r>
              <a:rPr b="1" sz="3900" i="0" u="none">
                <a:solidFill>
                  <a:srgbClr val="0F172A"/>
                </a:solidFill>
                <a:latin typeface="Plus Jakarta Sans"/>
              </a:rPr>
              <a:t>Triển khai Hệ thống &amp; Trải nghiệm Người dùng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867150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Minh chứng thực tế từ giao diện hệ thống `vieclamctut` đã vận hành thực nghiệm thành công.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481762"/>
            <a:ext cx="20097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4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Triển khai thực nghiệm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6600" y="6481762"/>
            <a:ext cx="7239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81125"/>
            <a:ext cx="5381625" cy="5000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8450" y="561975"/>
            <a:ext cx="1162050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481762"/>
            <a:ext cx="16097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4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Luồng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6125" y="6481762"/>
            <a:ext cx="7143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17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612231"/>
            <a:ext cx="565070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Phản hồi vi giây &amp; Dự phòng thông minh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107531"/>
            <a:ext cx="5381625" cy="728662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Tốc độ xử lý: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Trình duyệt sinh viên gửi request $\rightarrow$ PHP Web Server $\rightarrow$ Flask API $\rightarrow$ Trả kết quả JSON dưới 1s.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950493"/>
            <a:ext cx="5381625" cy="485775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Fallback UI: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Nếu AI Service bảo trì, hệ thống tự động bỏ qua lỗi và hiển thị danh sách tin tuyển dụng mới nhất.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550568"/>
            <a:ext cx="5381625" cy="485775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Trải nghiệm liên tục: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Đảm bảo người dùng không bao giờ đứt gãy trải nghiệm.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390650"/>
            <a:ext cx="5362575" cy="49815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136106"/>
            <a:ext cx="14287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979068"/>
            <a:ext cx="16192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579143"/>
            <a:ext cx="161925" cy="161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Luồng xử lý thời gian thực &amp; Cơ chế Phục hồi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81125"/>
            <a:ext cx="5381625" cy="5000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7525" y="561975"/>
            <a:ext cx="942975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481762"/>
            <a:ext cx="18097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4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Giao diện Sinh viên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81762"/>
            <a:ext cx="7239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18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733675"/>
            <a:ext cx="565070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Hiển thị trực quan độ phù hợp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228975"/>
            <a:ext cx="5381625" cy="485775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Khớp 100%: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Công việc trúng tuyệt đối từ khóa (PHP, MySQL, Laravel) trong hồ sơ.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829050"/>
            <a:ext cx="5381625" cy="485775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Khớp 33%: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Chỉ trùng khớp một vài kỹ năng cơ bản, hạ cấp ưu tiên.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429125"/>
            <a:ext cx="5381625" cy="485775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Khớp 0%: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Lọc bỏ hoàn toàn rác thông tin không liên quan khỏi tầm nhìn.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390650"/>
            <a:ext cx="5362575" cy="49815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57550"/>
            <a:ext cx="14287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857625"/>
            <a:ext cx="16192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457700"/>
            <a:ext cx="123825" cy="161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Trải nghiệm Sinh viên: Điểm khớp Kỹ năng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1125"/>
            <a:ext cx="5381625" cy="5000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381125"/>
            <a:ext cx="5381625" cy="5000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1350" y="561975"/>
            <a:ext cx="819150" cy="31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81762"/>
            <a:ext cx="14859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4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Quản lý hồ sơ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6600" y="6481762"/>
            <a:ext cx="7239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19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835" y="1695450"/>
            <a:ext cx="460526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Hồ sơ Năng lực Cá nhân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1635" y="1695450"/>
            <a:ext cx="4635266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Theo dõi Trạng thái Nộp đơn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1752600"/>
            <a:ext cx="25271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4425" y="2190750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Khai báo danh mục kỹ năng chuyên môn dạng thẻ Tag tiện lợi.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2790825"/>
            <a:ext cx="4524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Cập nhật GPA, ngành học, lớp học và giới thiệu bản thân.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3148012"/>
            <a:ext cx="4524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Tải lên CV bản PDF đính kèm phục vụ doanh nghiệp tải về.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1752600"/>
            <a:ext cx="224135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81800" y="2190750"/>
            <a:ext cx="4524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Quản lý danh sách công việc đã lưu để ứng tuyển sau.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2547937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Theo dõi tiến trình: Đã nộp $\rightarrow$ Đang xét $\rightarrow$ Phỏng vấn $\rightarrow$ Được nhận.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3148012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Nhận thông báo trực tiếp khi doanh nghiệp gửi lịch phỏng vấn.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2152650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2752725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3109912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2152650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0" y="2509837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3109912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Quản lý Hồ sơ CV &amp; Lịch sử Đơn ứng tuyển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81125"/>
            <a:ext cx="5381625" cy="54530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0" y="561975"/>
            <a:ext cx="1047750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481762"/>
            <a:ext cx="20955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4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Giao diện Doanh nghiệp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8025" y="6481762"/>
            <a:ext cx="752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20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259931"/>
            <a:ext cx="565070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Đăng tin siêu tốc &amp; Quản lý ứng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755231"/>
            <a:ext cx="5381625" cy="485775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Đăng tin siêu tốc: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Định hình yêu cầu, kỹ năng và mức lương chuẩn xác để làm mồi cho AI quét tự động.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355306"/>
            <a:ext cx="5381625" cy="485775"/>
          </a:xfrm>
          <a:prstGeom prst="rect">
            <a:avLst/>
          </a:prstGeom>
          <a:noFill/>
        </p:spPr>
        <p:txBody>
          <a:bodyPr wrap="square" lIns="29527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Quản lý tập trung: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Duyệt CV, thay đổi trạng thái và lên lịch phỏng vấn ngay trên một màn hình duy nhất.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390650"/>
            <a:ext cx="5362575" cy="543401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783806"/>
            <a:ext cx="16192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383881"/>
            <a:ext cx="200025" cy="161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Trải nghiệm Doanh nghiệp: Quản trị Luồng Tuyển dụng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1125"/>
            <a:ext cx="5381625" cy="5000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381125"/>
            <a:ext cx="5381625" cy="5000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1825" y="561975"/>
            <a:ext cx="828675" cy="31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81762"/>
            <a:ext cx="20097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4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Bảng điều hành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6600" y="6481762"/>
            <a:ext cx="7239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21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4260" y="1695450"/>
            <a:ext cx="4635266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Thống kê Bảng điều khiển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8785" y="1695450"/>
            <a:ext cx="457525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Quyền lực Kiểm duyệt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1752600"/>
            <a:ext cx="22413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4425" y="2190750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Giám sát tổng số người dùng (Sinh viên, Doanh nghiệp, Giảng viên).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2790825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Thống kê tổng số tin tuyển dụng đang mở và lượt ứng tuyển toàn hệ thống.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3390900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Xuất báo cáo dữ liệu tuyển dụng trực quan bằng thư viện dompdf.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1752600"/>
            <a:ext cx="281285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81800" y="2190750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Phê duyệt hồ sơ đăng ký doanh nghiệp mới đăng ký vào hệ thống.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2790825"/>
            <a:ext cx="4524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Thẩm định nội dung tin tuyển dụng trước khi công khai.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3148012"/>
            <a:ext cx="4524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Gỡ bỏ tin tuyển dụng rác hoặc có báo cáo vi phạm từ sinh viên.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2152650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2752725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3352800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2152650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0" y="2752725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3109912"/>
            <a:ext cx="133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C2410C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Trải nghiệm Quản trị viên: Bảng Điều hành System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950" y="2419350"/>
            <a:ext cx="1562100" cy="400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2775" y="2933700"/>
            <a:ext cx="9086448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850"/>
              </a:lnSpc>
            </a:pPr>
            <a:r>
              <a:rPr b="1" sz="3900" i="0" u="none">
                <a:solidFill>
                  <a:srgbClr val="0F172A"/>
                </a:solidFill>
                <a:latin typeface="Plus Jakarta Sans"/>
              </a:rPr>
              <a:t>Kiểm thử, Đánh giá &amp; 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867150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Kết quả kiểm thử thực nghiệm 100%, đánh giá tổng thể và định hướng nâng cấp lứa thuật toán AI tiếp theo.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481762"/>
            <a:ext cx="18573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5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Kiểm thử &amp; Đánh giá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8025" y="6481762"/>
            <a:ext cx="752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2718"/>
            <a:ext cx="3492549" cy="23574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702718"/>
            <a:ext cx="3492549" cy="23574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702718"/>
            <a:ext cx="3492549" cy="23574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1325" y="561975"/>
            <a:ext cx="1019175" cy="314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6481762"/>
            <a:ext cx="16573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5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Kết quả kiểm thử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8025" y="6481762"/>
            <a:ext cx="752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23 /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2997993"/>
            <a:ext cx="290199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0" sz="4800" i="0" u="none">
                <a:solidFill>
                  <a:srgbClr val="C2410C"/>
                </a:solidFill>
                <a:latin typeface="Plus Jakarta Sans ExtraBold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702843"/>
            <a:ext cx="290199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16/16 Test Cases 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4036218"/>
            <a:ext cx="2901999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Kiểm thử hộp đen hoàn hảo mọi kịch bản đăng ký, ứng tuyển, quản lý hồ sơ và gợi ý AI.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2997993"/>
            <a:ext cx="290199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0" sz="4800" i="0" u="none">
                <a:solidFill>
                  <a:srgbClr val="C2410C"/>
                </a:solidFill>
                <a:latin typeface="Plus Jakarta Sans ExtraBold"/>
              </a:rPr>
              <a:t>&lt; 1s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074" y="3702843"/>
            <a:ext cx="290199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Thời gian Phản hồi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074" y="4036218"/>
            <a:ext cx="2901999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Tốc độ tính toán ma trận TF-IDF &amp; Cosine Similarity tối ưu trên cơ sở dữ liệu mẫu.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3374" y="2997993"/>
            <a:ext cx="290199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0" sz="4800" i="0" u="none">
                <a:solidFill>
                  <a:srgbClr val="C2410C"/>
                </a:solidFill>
                <a:latin typeface="Plus Jakarta Sans ExtraBold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3374" y="3702843"/>
            <a:ext cx="290199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Lỗi Gián đoạn Trải nghiệm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3374" y="4036218"/>
            <a:ext cx="2901999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Cơ chế Fallback UI tự động kích hoạt mượt mà khi cưỡng chế ngắt kết nối API giả lập.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Kiểm thử Toàn diện: Hệ thống Sẵn sàng Thực tế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319462"/>
            <a:ext cx="41910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775" y="3319462"/>
            <a:ext cx="4191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925" y="3319462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081337"/>
            <a:ext cx="3314700" cy="1981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8650" y="3081337"/>
            <a:ext cx="3314700" cy="1981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5800" y="3081337"/>
            <a:ext cx="3314700" cy="1981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34675" y="561975"/>
            <a:ext cx="885825" cy="3143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6481762"/>
            <a:ext cx="17049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Chương 5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: Lộ trình phát triển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8025" y="6481762"/>
            <a:ext cx="752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24 / 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23950" y="4052887"/>
            <a:ext cx="99441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" y="3890962"/>
            <a:ext cx="298037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1. Nâng cấp Lõi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224337"/>
            <a:ext cx="2838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Chuyển từ TF-IDF sang các mô hình Word/Sentence Embedding hiện đại để AI hiểu từ đồng nghĩa tiếng Việt.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6775" y="3890962"/>
            <a:ext cx="298037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2. Chuẩn hóa Dữ liệu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6775" y="4224337"/>
            <a:ext cx="2838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Áp đặt danh mục kỹ năng cốt lõi bắt buộc thay vì nhập liệu tự do, tối đa hóa độ chính xác của lọc Tri thức.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3925" y="3890962"/>
            <a:ext cx="298037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3. Đo lường Định lượng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3925" y="4224337"/>
            <a:ext cx="2838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Triển khai trên tập dữ liệu lớn và đánh giá khắt khe chất lượng thuật toán bằng các chỉ số khoa học MAP &amp; NDCG.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Lộ trình Tiến hóa: Thấu hiểu Ngữ nghĩa Tuyệt đối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112" y="4386262"/>
            <a:ext cx="4295775" cy="523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76987"/>
            <a:ext cx="11049000" cy="290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1947862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451" y="2747962"/>
            <a:ext cx="10775096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b="1" sz="3300" i="0" u="none">
                <a:solidFill>
                  <a:srgbClr val="0F172A"/>
                </a:solidFill>
                <a:latin typeface="Plus Jakarta Sans"/>
              </a:rPr>
              <a:t>Biến tiếng ồn thị trường thành những kết nối hoàn hảo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7875" y="3529012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Hệ sinh thái Trí tuệ Nhân tạo giải quyết triệt để sự bất đối xứng thông tin — kết nối trực tiếp cung và cầu lao động trẻ bằng sự minh bạch, tốc độ và tính cá nhân hóa tuyệt đối.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481762"/>
            <a:ext cx="21050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64748B"/>
                </a:solidFill>
                <a:latin typeface="Inter"/>
              </a:rPr>
              <a:t>Kết thúc bài trình bày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 | CTUT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8025" y="6481762"/>
            <a:ext cx="752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Slide 25 /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171700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1146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86200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105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105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876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876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8196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8196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0300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314575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https://media.istockphoto.com/id/2197786422/vector/text-data-analysis-with-nlp-abstract-concept-vector-illustration.jpg?s=612x612&amp;w=0&amp;k=20&amp;c=fnwYSB8BBco30wvEuNVy8XTURKMbXVsYlUlTbH76u9c=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733675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5755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26469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https://www.mendix.com/wp-content/uploads/cloud_native_architecture_image-.png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49805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www.mendix.com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1480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4029075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https://res.cloudinary.com/highereducation/images/c_fill,f_auto,fl_lossy,q_auto,w_992,h_384,g_center/v1749146523/BestColleges.com/GettyImages-2193912926/GettyImages-2193912926.jpg?_i=AA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448175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www.bestcolleges.com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7205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97919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https://www.4cornerresources.com/wp-content/uploads/2025/11/HR-recruitment-interview.png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21255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www.4cornerresources.com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825"/>
              </a:lnSpc>
            </a:pPr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