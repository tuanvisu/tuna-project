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12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3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12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image" Target="../media/image44.png"/><Relationship Id="rId13" Type="http://schemas.openxmlformats.org/officeDocument/2006/relationships/image" Target="../media/image45.png"/><Relationship Id="rId14" Type="http://schemas.openxmlformats.org/officeDocument/2006/relationships/image" Target="../media/image46.png"/><Relationship Id="rId15" Type="http://schemas.openxmlformats.org/officeDocument/2006/relationships/image" Target="../media/image4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2.png"/><Relationship Id="rId4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12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6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62.png"/><Relationship Id="rId4" Type="http://schemas.openxmlformats.org/officeDocument/2006/relationships/image" Target="../media/image1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Relationship Id="rId8" Type="http://schemas.openxmlformats.org/officeDocument/2006/relationships/image" Target="../media/image72.png"/><Relationship Id="rId9" Type="http://schemas.openxmlformats.org/officeDocument/2006/relationships/image" Target="../media/image73.png"/><Relationship Id="rId10" Type="http://schemas.openxmlformats.org/officeDocument/2006/relationships/image" Target="../media/image74.png"/><Relationship Id="rId11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75.png"/><Relationship Id="rId4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7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4.png"/><Relationship Id="rId4" Type="http://schemas.openxmlformats.org/officeDocument/2006/relationships/image" Target="../media/image12.png"/><Relationship Id="rId5" Type="http://schemas.openxmlformats.org/officeDocument/2006/relationships/image" Target="../media/image55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image" Target="../media/image7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4.png"/><Relationship Id="rId4" Type="http://schemas.openxmlformats.org/officeDocument/2006/relationships/image" Target="../media/image12.png"/><Relationship Id="rId5" Type="http://schemas.openxmlformats.org/officeDocument/2006/relationships/image" Target="../media/image55.png"/><Relationship Id="rId6" Type="http://schemas.openxmlformats.org/officeDocument/2006/relationships/image" Target="../media/image80.png"/><Relationship Id="rId7" Type="http://schemas.openxmlformats.org/officeDocument/2006/relationships/image" Target="../media/image81.png"/><Relationship Id="rId8" Type="http://schemas.openxmlformats.org/officeDocument/2006/relationships/image" Target="../media/image8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83.png"/><Relationship Id="rId9" Type="http://schemas.openxmlformats.org/officeDocument/2006/relationships/image" Target="../media/image8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4.png"/><Relationship Id="rId4" Type="http://schemas.openxmlformats.org/officeDocument/2006/relationships/image" Target="../media/image12.png"/><Relationship Id="rId5" Type="http://schemas.openxmlformats.org/officeDocument/2006/relationships/image" Target="../media/image55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87.png"/><Relationship Id="rId5" Type="http://schemas.openxmlformats.org/officeDocument/2006/relationships/image" Target="../media/image12.png"/><Relationship Id="rId6" Type="http://schemas.openxmlformats.org/officeDocument/2006/relationships/image" Target="../media/image57.png"/><Relationship Id="rId7" Type="http://schemas.openxmlformats.org/officeDocument/2006/relationships/image" Target="../media/image88.png"/><Relationship Id="rId8" Type="http://schemas.openxmlformats.org/officeDocument/2006/relationships/image" Target="../media/image89.png"/><Relationship Id="rId9" Type="http://schemas.openxmlformats.org/officeDocument/2006/relationships/image" Target="../media/image9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9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96.png"/><Relationship Id="rId8" Type="http://schemas.openxmlformats.org/officeDocument/2006/relationships/image" Target="../media/image97.png"/><Relationship Id="rId9" Type="http://schemas.openxmlformats.org/officeDocument/2006/relationships/image" Target="../media/image1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98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Relationship Id="rId7" Type="http://schemas.openxmlformats.org/officeDocument/2006/relationships/image" Target="../media/image102.png"/><Relationship Id="rId8" Type="http://schemas.openxmlformats.org/officeDocument/2006/relationships/image" Target="../media/image103.png"/><Relationship Id="rId9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4.png"/><Relationship Id="rId4" Type="http://schemas.openxmlformats.org/officeDocument/2006/relationships/image" Target="../media/image4.png"/><Relationship Id="rId5" Type="http://schemas.openxmlformats.org/officeDocument/2006/relationships/image" Target="../media/image105.png"/><Relationship Id="rId6" Type="http://schemas.openxmlformats.org/officeDocument/2006/relationships/image" Target="../media/image10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620" y="2052637"/>
            <a:ext cx="4834979" cy="2752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215705"/>
            <a:ext cx="5886450" cy="428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6429375"/>
            <a:ext cx="11125200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6534150"/>
            <a:ext cx="22383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CBD5E1"/>
                </a:solidFill>
                <a:latin typeface="Inter"/>
              </a:rPr>
              <a:t>CTUT</a:t>
            </a:r>
            <a:r>
              <a:rPr b="0" sz="900" i="0" u="none">
                <a:solidFill>
                  <a:srgbClr val="64748B"/>
                </a:solidFill>
                <a:latin typeface="Inter"/>
              </a:rPr>
              <a:t> - Cổng thông tin Việc làm Sinh viên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0900" y="6534150"/>
            <a:ext cx="6477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01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213669"/>
            <a:ext cx="6204681" cy="963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95"/>
              </a:lnSpc>
            </a:pPr>
            <a:r>
              <a:rPr b="0" sz="3300" i="0" u="none">
                <a:solidFill>
                  <a:srgbClr val="FFFFFF"/>
                </a:solidFill>
                <a:latin typeface="Plus Jakarta Sans ExtraBold"/>
              </a:rPr>
              <a:t>Gợi ý việc làm bằng </a:t>
            </a:r>
            <a:r>
              <a:t>
</a:t>
            </a:r>
            <a:r>
              <a:rPr b="0" sz="3300" i="0" u="none">
                <a:solidFill>
                  <a:srgbClr val="FFFFFF"/>
                </a:solidFill>
                <a:latin typeface="Plus Jakarta Sans ExtraBold"/>
              </a:rPr>
              <a:t>Trí tuệ Nhân tạo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3367980"/>
            <a:ext cx="5909220" cy="542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b="0" sz="1425" i="0" u="none">
                <a:solidFill>
                  <a:srgbClr val="94A3B8"/>
                </a:solidFill>
                <a:latin typeface="Inter"/>
              </a:rPr>
              <a:t>Cá nhân hóa hành trình sự nghiệp cho sinh viên qua kiến trúc mô hình AI Hybrid minh bạch và tối ưu.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12410" y="2443162"/>
            <a:ext cx="857250" cy="857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5521" y="3529012"/>
            <a:ext cx="3231028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950" i="0" u="none">
                <a:solidFill>
                  <a:srgbClr val="FFFFFF"/>
                </a:solidFill>
                <a:latin typeface="Plus Jakarta Sans"/>
              </a:rPr>
              <a:t>Hệ thống AI Recommender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14145" y="3957637"/>
            <a:ext cx="405392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125" i="0" u="none">
                <a:solidFill>
                  <a:srgbClr val="94A3B8"/>
                </a:solidFill>
                <a:latin typeface="Inter"/>
              </a:rPr>
              <a:t>Giải mã mở hỗn độn dữ liệu tuyển dụng thành những kết nối hoàn hảo giữa Hồ sơ Sinh viên và Yêu cầu Doanh nghiệp.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4344292"/>
            <a:ext cx="219075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1010" y="2671762"/>
            <a:ext cx="400050" cy="4000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429375"/>
            <a:ext cx="1112520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4962" y="2466975"/>
            <a:ext cx="1362075" cy="352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20490" y="3009900"/>
            <a:ext cx="8151018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3750" i="0" u="none">
                <a:solidFill>
                  <a:srgbClr val="FFFFFF"/>
                </a:solidFill>
                <a:latin typeface="Plus Jakarta Sans ExtraBold"/>
              </a:rPr>
              <a:t>Tổng quan về Đề tài &amp; Tính cấp thiết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81250" y="3781425"/>
            <a:ext cx="74295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Phân tích bối cảnh kết nối cung - cầu lao động trẻ và những rào cản thực tế trong tuyển dụng sinh viên.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534150"/>
            <a:ext cx="14573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CBD5E1"/>
                </a:solidFill>
                <a:latin typeface="Inter"/>
              </a:rPr>
              <a:t>Chương 1</a:t>
            </a:r>
            <a:r>
              <a:rPr b="0" sz="900" i="0" u="none">
                <a:solidFill>
                  <a:srgbClr val="64748B"/>
                </a:solidFill>
                <a:latin typeface="Inter"/>
              </a:rPr>
              <a:t>: Tổng quan đề tài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850" y="6534150"/>
            <a:ext cx="6667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02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19200"/>
            <a:ext cx="5429250" cy="5200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1219200"/>
            <a:ext cx="5429250" cy="5200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6429375"/>
            <a:ext cx="11125200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6534150"/>
            <a:ext cx="14573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Chương 1</a:t>
            </a:r>
            <a:r>
              <a:rPr b="0" sz="900" i="0" u="none">
                <a:solidFill>
                  <a:srgbClr val="64748B"/>
                </a:solidFill>
                <a:latin typeface="Inter"/>
              </a:rPr>
              <a:t>: Tổng quan đề tài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850" y="6534150"/>
            <a:ext cx="6667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03 / 25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75" y="1552575"/>
            <a:ext cx="495300" cy="495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8675" y="2219325"/>
            <a:ext cx="508063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Nỗi đau của Sinh viên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625" y="1552575"/>
            <a:ext cx="495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24625" y="2219325"/>
            <a:ext cx="508063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Nỗi đau của Doanh nghiệp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5837" y="1695450"/>
            <a:ext cx="180975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38225" y="2619375"/>
            <a:ext cx="4629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Lạc lối giữa biển thông tin tuyển dụng đại trà trên các mạng xã hội.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" y="3190875"/>
            <a:ext cx="4629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Thiếu kinh nghiệm chuyên môn để tự đánh giá mức độ phù hợp công việc.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3762375"/>
            <a:ext cx="4629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Đánh mất cơ hội vì tìm kiếm bằng từ khóa không khớp với mô tả JD.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8225" y="4333875"/>
            <a:ext cx="4629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Khó tiếp cận các cơ hội thực tập/việc làm bán thời gian uy tín.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91312" y="1695450"/>
            <a:ext cx="161925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34175" y="2619375"/>
            <a:ext cx="4629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Tốn hàng giờ sàng lọc thủ công để lọc bỏ những hồ sơ rác, CV không liên quan.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4175" y="3190875"/>
            <a:ext cx="4629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Khó tiếp cận đúng nguồn nhân lực sinh viên tiềm năng đúng chuyên ngành.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4175" y="3762375"/>
            <a:ext cx="4629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Thiếu công cụ sàng lọc tự động dựa trên năng lực và kỹ năng cốt lõi.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4175" y="4333875"/>
            <a:ext cx="4629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Tỷ lệ phản hồi ứng viên thấp do thông tin yêu cầu thiếu minh bạch.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2638425"/>
            <a:ext cx="104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A580C"/>
                </a:solidFill>
                <a:latin typeface="Inter"/>
              </a:rPr>
              <a:t>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675" y="3209925"/>
            <a:ext cx="104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A580C"/>
                </a:solidFill>
                <a:latin typeface="Inter"/>
              </a:rPr>
              <a:t>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675" y="3781425"/>
            <a:ext cx="104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A580C"/>
                </a:solidFill>
                <a:latin typeface="Inter"/>
              </a:rPr>
              <a:t>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675" y="4352925"/>
            <a:ext cx="104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A580C"/>
                </a:solidFill>
                <a:latin typeface="Inter"/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4625" y="2638425"/>
            <a:ext cx="104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A580C"/>
                </a:solidFill>
                <a:latin typeface="Inter"/>
              </a:rPr>
              <a:t>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4625" y="3209925"/>
            <a:ext cx="104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A580C"/>
                </a:solidFill>
                <a:latin typeface="Inter"/>
              </a:rPr>
              <a:t>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4625" y="3781425"/>
            <a:ext cx="104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A580C"/>
                </a:solidFill>
                <a:latin typeface="Inter"/>
              </a:rPr>
              <a:t>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4625" y="4352925"/>
            <a:ext cx="104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A580C"/>
                </a:solidFill>
                <a:latin typeface="Inter"/>
              </a:rPr>
              <a:t>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" y="438150"/>
            <a:ext cx="116586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Rào cản lớn trong kết nối tuyển dụng thủ công </a:t>
            </a:r>
            <a:r>
              <a:rPr b="1" sz="2400" i="0" u="none">
                <a:solidFill>
                  <a:srgbClr val="FFFFFF"/>
                </a:solidFill>
                <a:latin typeface="Plus Jakarta Sans"/>
              </a:rPr>
              <a:t>Bài toán thực tế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3400" y="933450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614612"/>
            <a:ext cx="11125200" cy="2409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429375"/>
            <a:ext cx="11125200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6534150"/>
            <a:ext cx="15906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Chương 1</a:t>
            </a:r>
            <a:r>
              <a:rPr b="0" sz="900" i="0" u="none">
                <a:solidFill>
                  <a:srgbClr val="64748B"/>
                </a:solidFill>
                <a:latin typeface="Inter"/>
              </a:rPr>
              <a:t>: Khảo sát &amp; So sánh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82325" y="6534150"/>
            <a:ext cx="6762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04 / 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2925" y="2624137"/>
          <a:ext cx="11106146" cy="2390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053381"/>
                <a:gridCol w="2150268"/>
                <a:gridCol w="2203995"/>
                <a:gridCol w="1967358"/>
                <a:gridCol w="2731144"/>
              </a:tblGrid>
              <a:tr h="47815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Inter"/>
                        </a:rPr>
                        <a:t>Tiêu chí so sánh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Inter"/>
                        </a:rPr>
                        <a:t>TopCV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Inter"/>
                        </a:rPr>
                        <a:t>VietnamWorks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Inter"/>
                        </a:rPr>
                        <a:t>LinkedIn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Inter"/>
                        </a:rPr>
                        <a:t>Hệ thống Đề xuất (CTUT)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2410C"/>
                    </a:solidFill>
                  </a:tcPr>
                </a:tc>
              </a:tr>
              <a:tr h="47815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Đối tượng chính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Người lao động chung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Nhân sự trung/cao cấp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Toàn cầu, đa ngành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2410C"/>
                          </a:solidFill>
                          <a:latin typeface="Inter"/>
                        </a:rPr>
                        <a:t>Sinh viên, thực tập sinh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7ED"/>
                    </a:solidFill>
                  </a:tcPr>
                </a:tc>
              </a:tr>
              <a:tr h="47815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Gợi ý AI minh bạch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Ẩn thuật toán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Hạn chế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Phức tạp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2410C"/>
                          </a:solidFill>
                          <a:latin typeface="Inter"/>
                        </a:rPr>
                        <a:t>Mô hình Hybrid minh bạch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7ED"/>
                    </a:solidFill>
                  </a:tcPr>
                </a:tc>
              </a:tr>
              <a:tr h="47815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Tối ưu cho Thực tập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Trung bình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Thấp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Thấp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2410C"/>
                          </a:solidFill>
                          <a:latin typeface="Inter"/>
                        </a:rPr>
                        <a:t>Chuyên biệt 100%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7ED"/>
                    </a:solidFill>
                  </a:tcPr>
                </a:tc>
              </a:tr>
              <a:tr h="478155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Quản lý Học đường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Không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Không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Không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C2410C"/>
                          </a:solidFill>
                          <a:latin typeface="Inter"/>
                        </a:rPr>
                        <a:t>Tích hợp Nhà trường</a:t>
                      </a:r>
                    </a:p>
                  </a:txBody>
                  <a:tcPr anchor="ctr" marL="257175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7ED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2925" y="3571875"/>
            <a:ext cx="205338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96306" y="3571875"/>
            <a:ext cx="215026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46575" y="3571875"/>
            <a:ext cx="220399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50571" y="3571875"/>
            <a:ext cx="196735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17930" y="3571875"/>
            <a:ext cx="273114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17930" y="3109912"/>
            <a:ext cx="19050" cy="471487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2925" y="4048125"/>
            <a:ext cx="205338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96306" y="4048125"/>
            <a:ext cx="215026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46575" y="4048125"/>
            <a:ext cx="220399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50571" y="4048125"/>
            <a:ext cx="196735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7930" y="4048125"/>
            <a:ext cx="273114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17930" y="3581400"/>
            <a:ext cx="19050" cy="4762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2925" y="4524375"/>
            <a:ext cx="205338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96306" y="4524375"/>
            <a:ext cx="215026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46575" y="4524375"/>
            <a:ext cx="220399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50571" y="4524375"/>
            <a:ext cx="196735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7930" y="4524375"/>
            <a:ext cx="273114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17930" y="4057650"/>
            <a:ext cx="19050" cy="4762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2925" y="5000625"/>
            <a:ext cx="205338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96306" y="5000625"/>
            <a:ext cx="215026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46575" y="5000625"/>
            <a:ext cx="220399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50571" y="5000625"/>
            <a:ext cx="196735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17930" y="5000625"/>
            <a:ext cx="273114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17930" y="4533900"/>
            <a:ext cx="19050" cy="47625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5856" y="3748087"/>
            <a:ext cx="142875" cy="1428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0121" y="3748087"/>
            <a:ext cx="142875" cy="1428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6125" y="4224337"/>
            <a:ext cx="142875" cy="1428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37005" y="3748087"/>
            <a:ext cx="142875" cy="1428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6125" y="3748087"/>
            <a:ext cx="142875" cy="1428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37005" y="4700587"/>
            <a:ext cx="142875" cy="1428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0121" y="4224337"/>
            <a:ext cx="142875" cy="1428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37005" y="4224337"/>
            <a:ext cx="142875" cy="1428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60121" y="4700587"/>
            <a:ext cx="142875" cy="14287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6125" y="4700587"/>
            <a:ext cx="142875" cy="14287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05856" y="4224337"/>
            <a:ext cx="142875" cy="14287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05856" y="4700587"/>
            <a:ext cx="142875" cy="14287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5856" y="3748087"/>
            <a:ext cx="142875" cy="142875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6125" y="3748087"/>
            <a:ext cx="142875" cy="142875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0121" y="3748087"/>
            <a:ext cx="142875" cy="142875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37005" y="3748087"/>
            <a:ext cx="142875" cy="142875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05856" y="4224337"/>
            <a:ext cx="142875" cy="142875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6125" y="4224337"/>
            <a:ext cx="142875" cy="142875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0121" y="4224337"/>
            <a:ext cx="142875" cy="142875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37005" y="4224337"/>
            <a:ext cx="142875" cy="142875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05856" y="4700587"/>
            <a:ext cx="142875" cy="142875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6125" y="4700587"/>
            <a:ext cx="142875" cy="142875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60121" y="4700587"/>
            <a:ext cx="142875" cy="142875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37005" y="4700587"/>
            <a:ext cx="142875" cy="142875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533400" y="438150"/>
            <a:ext cx="116586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Khoảng trống thị trường của các nền tảng hiện tại </a:t>
            </a:r>
            <a:r>
              <a:rPr b="1" sz="2400" i="0" u="none">
                <a:solidFill>
                  <a:srgbClr val="FFFFFF"/>
                </a:solidFill>
                <a:latin typeface="Plus Jakarta Sans"/>
              </a:rPr>
              <a:t>Khảo sát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3400" y="933450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628900"/>
            <a:ext cx="3555950" cy="2381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628900"/>
            <a:ext cx="3555950" cy="2381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500" y="2628900"/>
            <a:ext cx="3556099" cy="2381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6429375"/>
            <a:ext cx="1112520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6534150"/>
            <a:ext cx="13525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Chương 1</a:t>
            </a:r>
            <a:r>
              <a:rPr b="0" sz="900" i="0" u="none">
                <a:solidFill>
                  <a:srgbClr val="64748B"/>
                </a:solidFill>
                <a:latin typeface="Inter"/>
              </a:rPr>
              <a:t>: Mục tiêu đề tài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850" y="6534150"/>
            <a:ext cx="6667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05 / 25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675" y="2962275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8675" y="3629025"/>
            <a:ext cx="311367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Nghiên cứu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75" y="4029075"/>
            <a:ext cx="2965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Nghiên cứu lý thuyết Hệ gợi ý (Content-Based, Knowledge-Based, Collaborative Filtering) và kỹ thuật học máy hiện đại.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3225" y="2962275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13225" y="3629025"/>
            <a:ext cx="311367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Xây dựng Mô hình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3225" y="4029075"/>
            <a:ext cx="29654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Thiết kế mô hình Hybrid gợi ý theo thang 100 điểm, kết hợp xử lý ngôn ngữ tự nhiên tiếng Việt TF-IDF.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7775" y="2962275"/>
            <a:ext cx="495300" cy="4953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97775" y="3629025"/>
            <a:ext cx="311382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Triển khai Web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7775" y="4029075"/>
            <a:ext cx="2965549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Xây dựng cổng thông tin đầy đủ chức năng với kiến trúc vi dịch vụ kép (PHP 8.3 Portal + Python Flask AI Service).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1550" y="3105150"/>
            <a:ext cx="209550" cy="2095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41812" y="3105150"/>
            <a:ext cx="238125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12075" y="3105150"/>
            <a:ext cx="266700" cy="2095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33400" y="438150"/>
            <a:ext cx="116586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Mục tiêu &amp; Nhiệm vụ nghiên cứu trọng tâm </a:t>
            </a:r>
            <a:r>
              <a:rPr b="1" sz="2400" i="0" u="none">
                <a:solidFill>
                  <a:srgbClr val="FFFFFF"/>
                </a:solidFill>
                <a:latin typeface="Plus Jakarta Sans"/>
              </a:rPr>
              <a:t>Đề tài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3400" y="933450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429375"/>
            <a:ext cx="1112520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675" y="2466975"/>
            <a:ext cx="1390650" cy="352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22953" y="3009900"/>
            <a:ext cx="8746093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3750" i="0" u="none">
                <a:solidFill>
                  <a:srgbClr val="FFFFFF"/>
                </a:solidFill>
                <a:latin typeface="Plus Jakarta Sans ExtraBold"/>
              </a:rPr>
              <a:t>Cơ sở Lý thuyết &amp; Kiến trúc Thuật toán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81250" y="3781425"/>
            <a:ext cx="74295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Nền tảng toán học, xử lý ngôn ngữ tự nhiên và cấu trúc tính điểm của mô hình gợi ý Hybrid.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534150"/>
            <a:ext cx="13906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CBD5E1"/>
                </a:solidFill>
                <a:latin typeface="Inter"/>
              </a:rPr>
              <a:t>Chương 2</a:t>
            </a:r>
            <a:r>
              <a:rPr b="0" sz="900" i="0" u="none">
                <a:solidFill>
                  <a:srgbClr val="64748B"/>
                </a:solidFill>
                <a:latin typeface="Inter"/>
              </a:rPr>
              <a:t>: Cơ sở lý thuyết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850" y="6534150"/>
            <a:ext cx="6667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06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571750"/>
            <a:ext cx="2638425" cy="2495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2325" y="2571750"/>
            <a:ext cx="2638425" cy="2495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1250" y="2571750"/>
            <a:ext cx="2638425" cy="2495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0175" y="2571750"/>
            <a:ext cx="2638425" cy="2495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6429375"/>
            <a:ext cx="1112520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6534150"/>
            <a:ext cx="17335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Chương 2</a:t>
            </a:r>
            <a:r>
              <a:rPr b="0" sz="900" i="0" u="none">
                <a:solidFill>
                  <a:srgbClr val="64748B"/>
                </a:solidFill>
                <a:latin typeface="Inter"/>
              </a:rPr>
              <a:t>: Hệ sinh thái 4 Trụ cột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91850" y="6534150"/>
            <a:ext cx="6667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07 / 25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675" y="2905125"/>
            <a:ext cx="495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8675" y="3571875"/>
            <a:ext cx="215026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1. Sinh viên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75" y="3971925"/>
            <a:ext cx="2047875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Tạo hồ sơ kỹ năng, nhận gợi ý việc làm cá nhân hóa, nộp CV trực tuyến và theo dõi trạng thái ứng tuyển.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0" y="2905125"/>
            <a:ext cx="495300" cy="495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57600" y="3571875"/>
            <a:ext cx="215026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2. Doanh nghiệp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971925"/>
            <a:ext cx="2047875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Đăng tin tuyển dụng, tiếp cận ứng viên trúng đích, quản lý CV tập trung và lên lịch phỏng vấn mượt mà.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6525" y="2905125"/>
            <a:ext cx="495300" cy="4953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86525" y="3571875"/>
            <a:ext cx="215026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3. Giảng viên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6525" y="3971925"/>
            <a:ext cx="2047875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Theo dõi tình hình việc làm của sinh viên, tổ chức các sự kiện hướng nghiệp và kết nối doanh nghiệp.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15450" y="2905125"/>
            <a:ext cx="495300" cy="4953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315450" y="3571875"/>
            <a:ext cx="215026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4. Quản trị viên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5450" y="3971925"/>
            <a:ext cx="2047875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Kiểm duyệt doanh nghiệp, thẩm định tin đăng, quản trị hệ thống và xuất báo cáo thống kê toàn diện.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5837" y="3048000"/>
            <a:ext cx="180975" cy="2095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24287" y="3048000"/>
            <a:ext cx="161925" cy="2095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00825" y="3048000"/>
            <a:ext cx="266700" cy="2095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429750" y="3048000"/>
            <a:ext cx="266700" cy="2095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33400" y="438150"/>
            <a:ext cx="116586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Hệ sinh thái 4 Trụ cột kết nối toàn diện </a:t>
            </a:r>
            <a:r>
              <a:rPr b="1" sz="2400" i="0" u="none">
                <a:solidFill>
                  <a:srgbClr val="FFFFFF"/>
                </a:solidFill>
                <a:latin typeface="Plus Jakarta Sans"/>
              </a:rPr>
              <a:t>Kiến trúc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3400" y="933450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19200"/>
            <a:ext cx="5429250" cy="5200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1219200"/>
            <a:ext cx="5429250" cy="5200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6429375"/>
            <a:ext cx="11125200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6534150"/>
            <a:ext cx="16192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Chương 2</a:t>
            </a:r>
            <a:r>
              <a:rPr b="0" sz="900" i="0" u="none">
                <a:solidFill>
                  <a:srgbClr val="64748B"/>
                </a:solidFill>
                <a:latin typeface="Inter"/>
              </a:rPr>
              <a:t>: Kiến trúc vi dịch vụ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850" y="6534150"/>
            <a:ext cx="6667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08 / 25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75" y="1552575"/>
            <a:ext cx="495300" cy="495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8675" y="2219325"/>
            <a:ext cx="508063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Lớp Ứng dụng Web (PHP 8.3 + MySQL)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625" y="1552575"/>
            <a:ext cx="495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24625" y="2219325"/>
            <a:ext cx="508063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Lớp Dịch vụ AI (Python + Flask)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975" y="1695450"/>
            <a:ext cx="26670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38225" y="2619375"/>
            <a:ext cx="4629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Giao diện người dùng (UI):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Đăng ký, đăng nhập Google OAuth, tìm kiếm, tương tác.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" y="3190875"/>
            <a:ext cx="4629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Luồng nghiệp vụ (Business Logic):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Quản lý hồ sơ, đơn ứng tuyển, sự kiện.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3762375"/>
            <a:ext cx="4629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Quản trị dữ liệu: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Tương tác trực tiếp với CSDL quan hệ MySQL.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81787" y="1695450"/>
            <a:ext cx="180975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34175" y="2619375"/>
            <a:ext cx="4629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Thuật toán Machine Learning: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TF-IDF Vectorizer &amp; Cosine Similarity.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4175" y="3190875"/>
            <a:ext cx="4629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Tính toán ma trận: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Xử lý dữ liệu lớn bằng Pandas &amp; Scikit-Learn.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4175" y="3762375"/>
            <a:ext cx="4629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334155"/>
                </a:solidFill>
                <a:latin typeface="Inter"/>
              </a:rPr>
              <a:t>Giao tiếp RESTful API:</a:t>
            </a:r>
            <a:r>
              <a:rPr b="0" sz="1200" i="0" u="none">
                <a:solidFill>
                  <a:srgbClr val="334155"/>
                </a:solidFill>
                <a:latin typeface="Inter"/>
              </a:rPr>
              <a:t> Trả kết quả JSON tính toán dưới 1 giây.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2638425"/>
            <a:ext cx="104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A580C"/>
                </a:solidFill>
                <a:latin typeface="Inter"/>
              </a:rPr>
              <a:t>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3209925"/>
            <a:ext cx="104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A580C"/>
                </a:solidFill>
                <a:latin typeface="Inter"/>
              </a:rPr>
              <a:t>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3781425"/>
            <a:ext cx="104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A580C"/>
                </a:solidFill>
                <a:latin typeface="Inter"/>
              </a:rPr>
              <a:t>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4625" y="2638425"/>
            <a:ext cx="104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A580C"/>
                </a:solidFill>
                <a:latin typeface="Inter"/>
              </a:rPr>
              <a:t>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4625" y="3209925"/>
            <a:ext cx="104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A580C"/>
                </a:solidFill>
                <a:latin typeface="Inter"/>
              </a:rPr>
              <a:t>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4625" y="3781425"/>
            <a:ext cx="104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A580C"/>
                </a:solidFill>
                <a:latin typeface="Inter"/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" y="438150"/>
            <a:ext cx="116586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Kiến trúc Vi dịch vụ kép (Dual Microservices) </a:t>
            </a:r>
            <a:r>
              <a:rPr b="1" sz="2400" i="0" u="none">
                <a:solidFill>
                  <a:srgbClr val="FFFFFF"/>
                </a:solidFill>
                <a:latin typeface="Plus Jakarta Sans"/>
              </a:rPr>
              <a:t>Hệ thống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3400" y="933450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19200"/>
            <a:ext cx="11125200" cy="5200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429375"/>
            <a:ext cx="11125200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6534150"/>
            <a:ext cx="14097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Chương 2</a:t>
            </a:r>
            <a:r>
              <a:rPr b="0" sz="900" i="0" u="none">
                <a:solidFill>
                  <a:srgbClr val="64748B"/>
                </a:solidFill>
                <a:latin typeface="Inter"/>
              </a:rPr>
              <a:t>: Mô hình Hybrid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850" y="6534150"/>
            <a:ext cx="6667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09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438150"/>
            <a:ext cx="116586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100 Điểm Tương thích: Mô hình Gợi ý Hybrid </a:t>
            </a:r>
            <a:r>
              <a:rPr b="1" sz="2400" i="0" u="none">
                <a:solidFill>
                  <a:srgbClr val="FFFFFF"/>
                </a:solidFill>
                <a:latin typeface="Plus Jakarta Sans"/>
              </a:rPr>
              <a:t>Thuật toán</a:t>
            </a:r>
          </a:p>
        </p:txBody>
      </p:sp>
      <p:sp>
        <p:nvSpPr>
          <p:cNvPr id="8" name="Rectangle 7"/>
          <p:cNvSpPr/>
          <p:nvPr/>
        </p:nvSpPr>
        <p:spPr>
          <a:xfrm>
            <a:off x="533400" y="933450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4314825"/>
            <a:ext cx="5429250" cy="495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1219200"/>
            <a:ext cx="5429250" cy="5200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6429375"/>
            <a:ext cx="11125200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6534150"/>
            <a:ext cx="11144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Chương 2</a:t>
            </a:r>
            <a:r>
              <a:rPr b="0" sz="900" i="0" u="none">
                <a:solidFill>
                  <a:srgbClr val="64748B"/>
                </a:solidFill>
                <a:latin typeface="Inter"/>
              </a:rPr>
              <a:t>: Xử lý NLP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0900" y="6534150"/>
            <a:ext cx="6477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10 / 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828925"/>
            <a:ext cx="570071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Quy trình đo lường sự tương đồng văn bản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3267075"/>
            <a:ext cx="5429250" cy="190500"/>
          </a:xfrm>
          <a:prstGeom prst="rect">
            <a:avLst/>
          </a:prstGeom>
          <a:noFill/>
        </p:spPr>
        <p:txBody>
          <a:bodyPr wrap="square" lIns="2476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Inter"/>
              </a:rPr>
              <a:t>Làm sạch Dữ liệu:</a:t>
            </a:r>
            <a:r>
              <a:rPr b="0" sz="1200" i="0" u="none">
                <a:solidFill>
                  <a:srgbClr val="1E293B"/>
                </a:solidFill>
                <a:latin typeface="Inter"/>
              </a:rPr>
              <a:t> Loại bỏ từ dừng tiếng Việt (và, của, là...).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3571875"/>
            <a:ext cx="5429250" cy="190500"/>
          </a:xfrm>
          <a:prstGeom prst="rect">
            <a:avLst/>
          </a:prstGeom>
          <a:noFill/>
        </p:spPr>
        <p:txBody>
          <a:bodyPr wrap="square" lIns="2476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Inter"/>
              </a:rPr>
              <a:t>Ma trận hóa TF-IDF:</a:t>
            </a:r>
            <a:r>
              <a:rPr b="0" sz="1200" i="0" u="none">
                <a:solidFill>
                  <a:srgbClr val="1E293B"/>
                </a:solidFill>
                <a:latin typeface="Inter"/>
              </a:rPr>
              <a:t> Chuyển văn bản Kỹ năng &amp; JD thành véc-tơ số.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3876675"/>
            <a:ext cx="5429250" cy="190500"/>
          </a:xfrm>
          <a:prstGeom prst="rect">
            <a:avLst/>
          </a:prstGeom>
          <a:noFill/>
        </p:spPr>
        <p:txBody>
          <a:bodyPr wrap="square" lIns="2476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Inter"/>
              </a:rPr>
              <a:t>Cosine Similarity:</a:t>
            </a:r>
            <a:r>
              <a:rPr b="0" sz="1200" i="0" u="none">
                <a:solidFill>
                  <a:srgbClr val="1E293B"/>
                </a:solidFill>
                <a:latin typeface="Inter"/>
              </a:rPr>
              <a:t> Đo góc $\theta$ giữa véc-tơ Hồ sơ &amp; Yêu cầu.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1228725"/>
            <a:ext cx="5410200" cy="5181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286125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590925"/>
            <a:ext cx="152400" cy="1524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895725"/>
            <a:ext cx="15240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3400" y="438150"/>
            <a:ext cx="116586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Xử lý Ngôn ngữ Tự nhiên &amp; Cosine Similarity </a:t>
            </a:r>
            <a:r>
              <a:rPr b="1" sz="2400" i="0" u="none">
                <a:solidFill>
                  <a:srgbClr val="FFFFFF"/>
                </a:solidFill>
                <a:latin typeface="Plus Jakarta Sans"/>
              </a:rPr>
              <a:t>NLP Pipeline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3400" y="933450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19200"/>
            <a:ext cx="5429250" cy="5200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1219200"/>
            <a:ext cx="5429250" cy="5200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6429375"/>
            <a:ext cx="11125200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6534150"/>
            <a:ext cx="16287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Chương 2</a:t>
            </a:r>
            <a:r>
              <a:rPr b="0" sz="900" i="0" u="none">
                <a:solidFill>
                  <a:srgbClr val="64748B"/>
                </a:solidFill>
                <a:latin typeface="Inter"/>
              </a:rPr>
              <a:t>: Cold-Start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39475" y="6534150"/>
            <a:ext cx="6191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11 / 25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75" y="1552575"/>
            <a:ext cx="495300" cy="495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8675" y="2219325"/>
            <a:ext cx="508063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Luật Tri thức (Tức thì)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675" y="2619375"/>
            <a:ext cx="48387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Ngay khi sinh viên vừa lập tài khoản và chưa có lịch sử click, hệ thống vẫn gợi ý chính xác nhờ gán trọng số gán sẵn: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625" y="1552575"/>
            <a:ext cx="495300" cy="495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24625" y="2219325"/>
            <a:ext cx="508063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Trí tuệ Đám đông (Xu hướng)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2619375"/>
            <a:ext cx="48387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Hệ thống ngầm theo dõi tín hiệu từ cộng đồng sinh viên cùng ngành: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1550" y="1695450"/>
            <a:ext cx="209550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38225" y="3133725"/>
            <a:ext cx="4629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Trùng khớp Ngành học sinh viên với Ngành tuyển dụng (+25đ).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8225" y="3476625"/>
            <a:ext cx="4629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Trùng khớp Địa điểm sinh viên sinh sống (+10đ).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8925" y="1695450"/>
            <a:ext cx="266700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34175" y="3133725"/>
            <a:ext cx="4629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Đếm số lượt ứng tuyển cùng ngành (Min-Max Scaling).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4175" y="3476625"/>
            <a:ext cx="4629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Đếm tổng số lượt tương tác/xem tin tuyển dụng.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4175" y="3819525"/>
            <a:ext cx="4629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Tự động đẩy các công việc đang hot lên top đầu.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3152775"/>
            <a:ext cx="104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A580C"/>
                </a:solidFill>
                <a:latin typeface="Inter"/>
              </a:rPr>
              <a:t>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3495675"/>
            <a:ext cx="104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A580C"/>
                </a:solidFill>
                <a:latin typeface="Inter"/>
              </a:rPr>
              <a:t>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4625" y="3152775"/>
            <a:ext cx="104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A580C"/>
                </a:solidFill>
                <a:latin typeface="Inter"/>
              </a:rPr>
              <a:t>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4625" y="3495675"/>
            <a:ext cx="104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A580C"/>
                </a:solidFill>
                <a:latin typeface="Inter"/>
              </a:rPr>
              <a:t>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4625" y="3838575"/>
            <a:ext cx="104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A580C"/>
                </a:solidFill>
                <a:latin typeface="Inter"/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" y="438150"/>
            <a:ext cx="116586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Giải quyết triệt để bài toán Khởi động nguội (Cold-Start) </a:t>
            </a:r>
            <a:r>
              <a:rPr b="1" sz="2400" i="0" u="none">
                <a:solidFill>
                  <a:srgbClr val="FFFFFF"/>
                </a:solidFill>
                <a:latin typeface="Plus Jakarta Sans"/>
              </a:rPr>
              <a:t>Giải pháp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3400" y="933450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429375"/>
            <a:ext cx="1112520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912" y="2466975"/>
            <a:ext cx="1400175" cy="352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1830" y="3009900"/>
            <a:ext cx="6708338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3750" i="0" u="none">
                <a:solidFill>
                  <a:srgbClr val="FFFFFF"/>
                </a:solidFill>
                <a:latin typeface="Plus Jakarta Sans ExtraBold"/>
              </a:rPr>
              <a:t>Phân tích &amp; Thiết kế Hệ thống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81250" y="3781425"/>
            <a:ext cx="74295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Đặc tả yêu cầu chức năng, sơ đồ Use Case, Activity Diagram và cấu trúc Cơ sở dữ liệu quan hệ.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534150"/>
            <a:ext cx="15240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CBD5E1"/>
                </a:solidFill>
                <a:latin typeface="Inter"/>
              </a:rPr>
              <a:t>Chương 3</a:t>
            </a:r>
            <a:r>
              <a:rPr b="0" sz="900" i="0" u="none">
                <a:solidFill>
                  <a:srgbClr val="64748B"/>
                </a:solidFill>
                <a:latin typeface="Inter"/>
              </a:rPr>
              <a:t>: Phân tích thiết kế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0425" y="6534150"/>
            <a:ext cx="6381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547937"/>
            <a:ext cx="11125200" cy="25431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429375"/>
            <a:ext cx="11125200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6534150"/>
            <a:ext cx="15144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Chương 3</a:t>
            </a:r>
            <a:r>
              <a:rPr b="0" sz="900" i="0" u="none">
                <a:solidFill>
                  <a:srgbClr val="64748B"/>
                </a:solidFill>
                <a:latin typeface="Inter"/>
              </a:rPr>
              <a:t>: Yêu cầu hệ thống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0425" y="6534150"/>
            <a:ext cx="6381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13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890837"/>
            <a:ext cx="10096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Quản lý Tài khoản &amp; Phân quyền: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Hỗ trợ 4 vai trò (Sinh viên, Doanh nghiệp, Giảng viên, Admin) với xác thực Google OAuth an toàn.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595687"/>
            <a:ext cx="100965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Đăng tin &amp; Kiểm duyệt: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Doanh nghiệp đăng tin chi tiết kỹ năng; Admin thẩm định và duyệt tin trước khi hiển thị công khai.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4043362"/>
            <a:ext cx="100965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Gợi ý AI Cá nhân hóa: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Tự động xếp hạng tin tuyển dụng dựa trên điểm khớp kỹ năng và vị trí địa lý.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4491037"/>
            <a:ext cx="100965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350" i="0" u="none">
                <a:solidFill>
                  <a:srgbClr val="334155"/>
                </a:solidFill>
                <a:latin typeface="Inter"/>
              </a:rPr>
              <a:t>Hiệu năng &amp; An toàn:</a:t>
            </a:r>
            <a:r>
              <a:rPr b="0" sz="1350" i="0" u="none">
                <a:solidFill>
                  <a:srgbClr val="334155"/>
                </a:solidFill>
                <a:latin typeface="Inter"/>
              </a:rPr>
              <a:t> Phản hồi API dưới 1 giây, cơ chế Fallback UI tự phục hồi khi AI Service gián đoạn.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2909887"/>
            <a:ext cx="104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A580C"/>
                </a:solidFill>
                <a:latin typeface="Inter"/>
              </a:rPr>
              <a:t>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614737"/>
            <a:ext cx="104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A580C"/>
                </a:solidFill>
                <a:latin typeface="Inter"/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4062412"/>
            <a:ext cx="104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A580C"/>
                </a:solidFill>
                <a:latin typeface="Inter"/>
              </a:rPr>
              <a:t>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4510087"/>
            <a:ext cx="104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A580C"/>
                </a:solidFill>
                <a:latin typeface="Inter"/>
              </a:rPr>
              <a:t>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2905125"/>
            <a:ext cx="209550" cy="219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3609975"/>
            <a:ext cx="238125" cy="219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4057650"/>
            <a:ext cx="238125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300" y="4505325"/>
            <a:ext cx="180975" cy="2190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33400" y="438150"/>
            <a:ext cx="116586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Đặc tả Yêu cầu Chức năng &amp; Phi chức năng </a:t>
            </a:r>
            <a:r>
              <a:rPr b="1" sz="2400" i="0" u="none">
                <a:solidFill>
                  <a:srgbClr val="FFFFFF"/>
                </a:solidFill>
                <a:latin typeface="Plus Jakarta Sans"/>
              </a:rPr>
              <a:t>Yêu cầu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3400" y="933450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3290887"/>
            <a:ext cx="476250" cy="47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6941" y="3290887"/>
            <a:ext cx="476250" cy="47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2357" y="3290887"/>
            <a:ext cx="476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7774" y="3290887"/>
            <a:ext cx="476250" cy="4762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052762"/>
            <a:ext cx="2558653" cy="18192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88816" y="3052762"/>
            <a:ext cx="2558653" cy="18192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4232" y="3052762"/>
            <a:ext cx="2558653" cy="18192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99649" y="3052762"/>
            <a:ext cx="2558653" cy="18192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6429375"/>
            <a:ext cx="11125200" cy="247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6534150"/>
            <a:ext cx="16383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Chương 3</a:t>
            </a:r>
            <a:r>
              <a:rPr b="0" sz="900" i="0" u="none">
                <a:solidFill>
                  <a:srgbClr val="64748B"/>
                </a:solidFill>
                <a:latin typeface="Inter"/>
              </a:rPr>
              <a:t>: Quy trình nghiệp vụ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0900" y="6534150"/>
            <a:ext cx="6477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14 / 25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9564" y="3933825"/>
            <a:ext cx="10012870" cy="571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1525" y="3938587"/>
            <a:ext cx="218652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1. Tạo Tin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5" y="4233862"/>
            <a:ext cx="208240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Doanh nghiệp đăng tin tuyển dụng kèm kỹ năng yêu cầu.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6941" y="3938587"/>
            <a:ext cx="218652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2. Duyệt Tin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26941" y="4233862"/>
            <a:ext cx="208240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Admin thẩm định nội dung tin tuyển dụng hợp lệ.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2357" y="3938587"/>
            <a:ext cx="218652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3. AI Gợi 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2357" y="4233862"/>
            <a:ext cx="208240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Flask Service tính điểm khớp % hiển thị cho sinh viên.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37774" y="3938587"/>
            <a:ext cx="218652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4. Ứng tuyển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7774" y="4233862"/>
            <a:ext cx="2082403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Sinh viên nộp CV PDF, Doanh nghiệp xét duyệt &amp; phỏng vấn.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" y="438150"/>
            <a:ext cx="116586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Quy trình Đăng tin, Gợi ý &amp; Ứng tuyển </a:t>
            </a:r>
            <a:r>
              <a:rPr b="1" sz="2400" i="0" u="none">
                <a:solidFill>
                  <a:srgbClr val="FFFFFF"/>
                </a:solidFill>
                <a:latin typeface="Plus Jakarta Sans"/>
              </a:rPr>
              <a:t>Workflow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933450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376487"/>
            <a:ext cx="11125200" cy="2886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429375"/>
            <a:ext cx="11125200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6534150"/>
            <a:ext cx="13716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Chương 3</a:t>
            </a:r>
            <a:r>
              <a:rPr b="0" sz="900" i="0" u="none">
                <a:solidFill>
                  <a:srgbClr val="64748B"/>
                </a:solidFill>
                <a:latin typeface="Inter"/>
              </a:rPr>
              <a:t>: Thiết kế CSDL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0425" y="6534150"/>
            <a:ext cx="6381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15 / 25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2925" y="2386012"/>
          <a:ext cx="11106148" cy="2867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114698"/>
                <a:gridCol w="3580953"/>
                <a:gridCol w="5410497"/>
              </a:tblGrid>
              <a:tr h="477837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Inter"/>
                        </a:rPr>
                        <a:t>Tên Bảng CSDL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Inter"/>
                        </a:rPr>
                        <a:t>Chức năng Chính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Inter"/>
                        </a:rPr>
                        <a:t>Trường Dữ liệu Cốt lõi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477837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users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Tài khoản &amp; Phân quyền 4 vai trò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id, email, password, role, google_id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7837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student_profiles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Hồ sơ sinh viên (Nguồn AI)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user_id, major, skills, gpa, address, cv_path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77837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job_posts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Tin tuyển dụng (Nguồn AI)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company_id, title, skills, industry, location, deadline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77837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applications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Đơn ứng tuyển &amp; Trạng thái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student_id, job_post_id, cv_path, status, interview_at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7784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334155"/>
                          </a:solidFill>
                          <a:latin typeface="Inter"/>
                        </a:rPr>
                        <a:t>job_interactions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Ghi nhận hành vi (Collaborative)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334155"/>
                          </a:solidFill>
                          <a:latin typeface="Inter"/>
                        </a:rPr>
                        <a:t>student_id, job_post_id, interaction_type (view/save)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2925" y="3333750"/>
            <a:ext cx="211469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57623" y="3333750"/>
            <a:ext cx="358095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38577" y="3333750"/>
            <a:ext cx="541049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2925" y="3810000"/>
            <a:ext cx="211469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7623" y="3810000"/>
            <a:ext cx="358095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8577" y="3810000"/>
            <a:ext cx="541049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2925" y="4286250"/>
            <a:ext cx="211469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7623" y="4286250"/>
            <a:ext cx="358095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8577" y="4286250"/>
            <a:ext cx="541049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2925" y="4762500"/>
            <a:ext cx="211469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57623" y="4762500"/>
            <a:ext cx="358095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8577" y="4762500"/>
            <a:ext cx="541049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2925" y="5238750"/>
            <a:ext cx="211469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57623" y="5238750"/>
            <a:ext cx="358095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8577" y="5238750"/>
            <a:ext cx="541049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3400" y="438150"/>
            <a:ext cx="116586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Cấu trúc Cơ sở Dữ liệu Quan hệ (17 Bảng) </a:t>
            </a:r>
            <a:r>
              <a:rPr b="1" sz="2400" i="0" u="none">
                <a:solidFill>
                  <a:srgbClr val="FFFFFF"/>
                </a:solidFill>
                <a:latin typeface="Plus Jakarta Sans"/>
              </a:rPr>
              <a:t>Database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933450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429375"/>
            <a:ext cx="1112520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5912" y="2466975"/>
            <a:ext cx="1400175" cy="352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5353" y="3009900"/>
            <a:ext cx="10341292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3750" i="0" u="none">
                <a:solidFill>
                  <a:srgbClr val="FFFFFF"/>
                </a:solidFill>
                <a:latin typeface="Plus Jakarta Sans ExtraBold"/>
              </a:rPr>
              <a:t>Triển khai Hệ thống &amp; Trải nghiệm Người dùng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81250" y="3781425"/>
            <a:ext cx="74295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Minh chứng thực tế từ giao diện hệ thống `vieclamctut` đã vận hành thực nghiệm thành công.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534150"/>
            <a:ext cx="18192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CBD5E1"/>
                </a:solidFill>
                <a:latin typeface="Inter"/>
              </a:rPr>
              <a:t>Chương 4</a:t>
            </a:r>
            <a:r>
              <a:rPr b="0" sz="900" i="0" u="none">
                <a:solidFill>
                  <a:srgbClr val="64748B"/>
                </a:solidFill>
                <a:latin typeface="Inter"/>
              </a:rPr>
              <a:t>: Triển khai thực nghiệm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20425" y="6534150"/>
            <a:ext cx="6381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1219200"/>
            <a:ext cx="5429250" cy="5200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429375"/>
            <a:ext cx="11125200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6534150"/>
            <a:ext cx="1419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Chương 4</a:t>
            </a:r>
            <a:r>
              <a:rPr b="0" sz="900" i="0" u="none">
                <a:solidFill>
                  <a:srgbClr val="64748B"/>
                </a:solidFill>
                <a:latin typeface="Inter"/>
              </a:rPr>
              <a:t>: Luồng hệ thống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0425" y="6534150"/>
            <a:ext cx="6381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17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828925"/>
            <a:ext cx="570071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Phản hồi vi giây &amp; Dự phòng thông minh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267075"/>
            <a:ext cx="5429250" cy="381000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Inter"/>
              </a:rPr>
              <a:t>Tốc độ xử lý:</a:t>
            </a:r>
            <a:r>
              <a:rPr b="0" sz="1200" i="0" u="none">
                <a:solidFill>
                  <a:srgbClr val="1E293B"/>
                </a:solidFill>
                <a:latin typeface="Inter"/>
              </a:rPr>
              <a:t> Trình duyệt $\rightarrow$ PHP Server $\rightarrow$ Flask API $\rightarrow$ JSON trả về dưới 1s.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3781425"/>
            <a:ext cx="5429250" cy="381000"/>
          </a:xfrm>
          <a:prstGeom prst="rect">
            <a:avLst/>
          </a:prstGeom>
          <a:noFill/>
        </p:spPr>
        <p:txBody>
          <a:bodyPr wrap="square" lIns="2476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Inter"/>
              </a:rPr>
              <a:t>Fallback UI:</a:t>
            </a:r>
            <a:r>
              <a:rPr b="0" sz="1200" i="0" u="none">
                <a:solidFill>
                  <a:srgbClr val="1E293B"/>
                </a:solidFill>
                <a:latin typeface="Inter"/>
              </a:rPr>
              <a:t> Nếu AI Service bảo trì, hệ thống tự động hiển thị danh sách tin tuyển dụng mới nhất.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4295775"/>
            <a:ext cx="5429250" cy="381000"/>
          </a:xfrm>
          <a:prstGeom prst="rect">
            <a:avLst/>
          </a:prstGeom>
          <a:noFill/>
        </p:spPr>
        <p:txBody>
          <a:bodyPr wrap="square" lIns="2476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Inter"/>
              </a:rPr>
              <a:t>Trải nghiệm liên tục:</a:t>
            </a:r>
            <a:r>
              <a:rPr b="0" sz="1200" i="0" u="none">
                <a:solidFill>
                  <a:srgbClr val="1E293B"/>
                </a:solidFill>
                <a:latin typeface="Inter"/>
              </a:rPr>
              <a:t> Đảm bảo người dùng không bao giờ bị đứt gãy trải nghiệm.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1228725"/>
            <a:ext cx="5410200" cy="5181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286125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800475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4314825"/>
            <a:ext cx="152400" cy="152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3400" y="438150"/>
            <a:ext cx="116586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Luồng xử lý thời gian thực &amp; Cơ chế Phục hồi </a:t>
            </a:r>
            <a:r>
              <a:rPr b="1" sz="2400" i="0" u="none">
                <a:solidFill>
                  <a:srgbClr val="FFFFFF"/>
                </a:solidFill>
                <a:latin typeface="Plus Jakarta Sans"/>
              </a:rPr>
              <a:t>Backend Flow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933450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1219200"/>
            <a:ext cx="5429250" cy="5200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429375"/>
            <a:ext cx="11125200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6534150"/>
            <a:ext cx="16192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Chương 4</a:t>
            </a:r>
            <a:r>
              <a:rPr b="0" sz="900" i="0" u="none">
                <a:solidFill>
                  <a:srgbClr val="64748B"/>
                </a:solidFill>
                <a:latin typeface="Inter"/>
              </a:rPr>
              <a:t>: Giao diện Sinh viên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20425" y="6534150"/>
            <a:ext cx="6381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18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924175"/>
            <a:ext cx="570071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Hiển thị trực quan độ phù hợp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362325"/>
            <a:ext cx="5429250" cy="381000"/>
          </a:xfrm>
          <a:prstGeom prst="rect">
            <a:avLst/>
          </a:prstGeom>
          <a:noFill/>
        </p:spPr>
        <p:txBody>
          <a:bodyPr wrap="square" lIns="2286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Inter"/>
              </a:rPr>
              <a:t>Khớp 100%:</a:t>
            </a:r>
            <a:r>
              <a:rPr b="0" sz="1200" i="0" u="none">
                <a:solidFill>
                  <a:srgbClr val="1E293B"/>
                </a:solidFill>
                <a:latin typeface="Inter"/>
              </a:rPr>
              <a:t> Công việc trúng tuyệt đối từ khóa (PHP, MySQL, Laravel) trong hồ sơ.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3876675"/>
            <a:ext cx="5429250" cy="190500"/>
          </a:xfrm>
          <a:prstGeom prst="rect">
            <a:avLst/>
          </a:prstGeom>
          <a:noFill/>
        </p:spPr>
        <p:txBody>
          <a:bodyPr wrap="square" lIns="2476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Inter"/>
              </a:rPr>
              <a:t>Khớp 33%:</a:t>
            </a:r>
            <a:r>
              <a:rPr b="0" sz="1200" i="0" u="none">
                <a:solidFill>
                  <a:srgbClr val="1E293B"/>
                </a:solidFill>
                <a:latin typeface="Inter"/>
              </a:rPr>
              <a:t> Chỉ trùng khớp một vài kỹ năng cơ bản, hạ cấp ưu tiên.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4200525"/>
            <a:ext cx="5429250" cy="381000"/>
          </a:xfrm>
          <a:prstGeom prst="rect">
            <a:avLst/>
          </a:prstGeom>
          <a:noFill/>
        </p:spPr>
        <p:txBody>
          <a:bodyPr wrap="square" lIns="2095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Inter"/>
              </a:rPr>
              <a:t>Khớp 0%:</a:t>
            </a:r>
            <a:r>
              <a:rPr b="0" sz="1200" i="0" u="none">
                <a:solidFill>
                  <a:srgbClr val="1E293B"/>
                </a:solidFill>
                <a:latin typeface="Inter"/>
              </a:rPr>
              <a:t> Lọc bỏ hoàn toàn rác thông tin không liên quan khỏi tầm nhìn.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1228725"/>
            <a:ext cx="5410200" cy="5181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381375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895725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4219575"/>
            <a:ext cx="114300" cy="152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3400" y="438150"/>
            <a:ext cx="116586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Trải nghiệm Sinh viên: Điểm khớp Kỹ năng </a:t>
            </a:r>
            <a:r>
              <a:rPr b="1" sz="2400" i="0" u="none">
                <a:solidFill>
                  <a:srgbClr val="FFFFFF"/>
                </a:solidFill>
                <a:latin typeface="Plus Jakarta Sans"/>
              </a:rPr>
              <a:t>Student UI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3400" y="933450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19200"/>
            <a:ext cx="5429250" cy="5200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1219200"/>
            <a:ext cx="5429250" cy="5200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6429375"/>
            <a:ext cx="11125200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6534150"/>
            <a:ext cx="13144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Chương 4</a:t>
            </a:r>
            <a:r>
              <a:rPr b="0" sz="900" i="0" u="none">
                <a:solidFill>
                  <a:srgbClr val="64748B"/>
                </a:solidFill>
                <a:latin typeface="Inter"/>
              </a:rPr>
              <a:t>: Quản lý hồ sơ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0425" y="6534150"/>
            <a:ext cx="6381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19 / 25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75" y="1552575"/>
            <a:ext cx="495300" cy="495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8675" y="2219325"/>
            <a:ext cx="508063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Hồ sơ Năng lực Cá nhân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625" y="1552575"/>
            <a:ext cx="495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24625" y="2219325"/>
            <a:ext cx="508063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Theo dõi Trạng thái Nộp đơn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7262" y="1695450"/>
            <a:ext cx="238125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38225" y="2619375"/>
            <a:ext cx="4629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Khai báo danh mục kỹ năng chuyên môn dạng thẻ Tag tiện lợi.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" y="2962275"/>
            <a:ext cx="4629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Cập nhật GPA, ngành học, lớp học và giới thiệu bản thân.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3305175"/>
            <a:ext cx="4629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Tải lên CV bản PDF đính kèm phục vụ doanh nghiệp tải về.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7500" y="1695450"/>
            <a:ext cx="209550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34175" y="2619375"/>
            <a:ext cx="4629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Quản lý danh sách công việc đã lưu để ứng tuyển sau.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4175" y="2962275"/>
            <a:ext cx="4629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Theo dõi tiến trình: Đã nộp $\rightarrow$ Đang xét $\rightarrow$ Phỏng vấn $\rightarrow$ Được nhận.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4175" y="3533775"/>
            <a:ext cx="4629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Nhận thông báo trực tiếp khi doanh nghiệp gửi lịch phỏng vấn.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2638425"/>
            <a:ext cx="104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A580C"/>
                </a:solidFill>
                <a:latin typeface="Inter"/>
              </a:rPr>
              <a:t>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2981325"/>
            <a:ext cx="104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A580C"/>
                </a:solidFill>
                <a:latin typeface="Inter"/>
              </a:rPr>
              <a:t>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3324225"/>
            <a:ext cx="104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A580C"/>
                </a:solidFill>
                <a:latin typeface="Inter"/>
              </a:rPr>
              <a:t>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4625" y="2638425"/>
            <a:ext cx="104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A580C"/>
                </a:solidFill>
                <a:latin typeface="Inter"/>
              </a:rPr>
              <a:t>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4625" y="2981325"/>
            <a:ext cx="104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A580C"/>
                </a:solidFill>
                <a:latin typeface="Inter"/>
              </a:rPr>
              <a:t>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4625" y="3552825"/>
            <a:ext cx="104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A580C"/>
                </a:solidFill>
                <a:latin typeface="Inter"/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" y="438150"/>
            <a:ext cx="116586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Quản lý Hồ sơ CV &amp; Lịch sử Đơn ứng tuyển </a:t>
            </a:r>
            <a:r>
              <a:rPr b="1" sz="2400" i="0" u="none">
                <a:solidFill>
                  <a:srgbClr val="FFFFFF"/>
                </a:solidFill>
                <a:latin typeface="Plus Jakarta Sans"/>
              </a:rPr>
              <a:t>Sinh viên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3400" y="933450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1219200"/>
            <a:ext cx="5429250" cy="5200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429375"/>
            <a:ext cx="11125200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3400" y="6534150"/>
            <a:ext cx="18669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Chương 4</a:t>
            </a:r>
            <a:r>
              <a:rPr b="0" sz="900" i="0" u="none">
                <a:solidFill>
                  <a:srgbClr val="64748B"/>
                </a:solidFill>
                <a:latin typeface="Inter"/>
              </a:rPr>
              <a:t>: Giao diện Doanh nghiệp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91850" y="6534150"/>
            <a:ext cx="6667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20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3086100"/>
            <a:ext cx="570071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Đăng tin siêu tốc &amp; Quản lý ứng viên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524250"/>
            <a:ext cx="5429250" cy="381000"/>
          </a:xfrm>
          <a:prstGeom prst="rect">
            <a:avLst/>
          </a:prstGeom>
          <a:noFill/>
        </p:spPr>
        <p:txBody>
          <a:bodyPr wrap="square" lIns="2476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Inter"/>
              </a:rPr>
              <a:t>Đăng tin siêu tốc:</a:t>
            </a:r>
            <a:r>
              <a:rPr b="0" sz="1200" i="0" u="none">
                <a:solidFill>
                  <a:srgbClr val="1E293B"/>
                </a:solidFill>
                <a:latin typeface="Inter"/>
              </a:rPr>
              <a:t> Định hình yêu cầu, kỹ năng và mức lương chuẩn xác để làm mồi cho AI quét tự động.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4038600"/>
            <a:ext cx="5429250" cy="381000"/>
          </a:xfrm>
          <a:prstGeom prst="rect">
            <a:avLst/>
          </a:prstGeom>
          <a:noFill/>
        </p:spPr>
        <p:txBody>
          <a:bodyPr wrap="square" lIns="28575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293B"/>
                </a:solidFill>
                <a:latin typeface="Inter"/>
              </a:rPr>
              <a:t>Quản lý tập trung:</a:t>
            </a:r>
            <a:r>
              <a:rPr b="0" sz="1200" i="0" u="none">
                <a:solidFill>
                  <a:srgbClr val="1E293B"/>
                </a:solidFill>
                <a:latin typeface="Inter"/>
              </a:rPr>
              <a:t> Duyệt CV, thay đổi trạng thái và lên lịch phỏng vấn ngay trên một màn hình duy nhất.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1228725"/>
            <a:ext cx="5410200" cy="5181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3543300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4057650"/>
            <a:ext cx="19050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3400" y="438150"/>
            <a:ext cx="116586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Trải nghiệm Doanh nghiệp: Quản trị Tuyển dụng </a:t>
            </a:r>
            <a:r>
              <a:rPr b="1" sz="2400" i="0" u="none">
                <a:solidFill>
                  <a:srgbClr val="FFFFFF"/>
                </a:solidFill>
                <a:latin typeface="Plus Jakarta Sans"/>
              </a:rPr>
              <a:t>Company UI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3400" y="933450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19200"/>
            <a:ext cx="5429250" cy="5200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1219200"/>
            <a:ext cx="5429250" cy="5200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6429375"/>
            <a:ext cx="11125200" cy="247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6534150"/>
            <a:ext cx="17907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Chương 4</a:t>
            </a:r>
            <a:r>
              <a:rPr b="0" sz="900" i="0" u="none">
                <a:solidFill>
                  <a:srgbClr val="64748B"/>
                </a:solidFill>
                <a:latin typeface="Inter"/>
              </a:rPr>
              <a:t>: Bảng điều hành Admin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20425" y="6534150"/>
            <a:ext cx="6381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21 / 25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75" y="1552575"/>
            <a:ext cx="495300" cy="495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8675" y="2219325"/>
            <a:ext cx="508063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Thống kê Bảng điều khiển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625" y="1552575"/>
            <a:ext cx="495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24625" y="2219325"/>
            <a:ext cx="508063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Quyền lực Kiểm duyệt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1550" y="1695450"/>
            <a:ext cx="20955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38225" y="2619375"/>
            <a:ext cx="4629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Giám sát tổng số người dùng (Sinh viên, Doanh nghiệp, Giảng viên).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" y="3190875"/>
            <a:ext cx="4629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Thống kê tổng số tin tuyển dụng đang mở và lượt ứng tuyển toàn hệ thống.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8225" y="3762375"/>
            <a:ext cx="4629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Xuất báo cáo dữ liệu tuyển dụng trực quan bằng thư viện dompdf.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8925" y="1695450"/>
            <a:ext cx="266700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34175" y="2619375"/>
            <a:ext cx="462915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Phê duyệt hồ sơ đăng ký doanh nghiệp mới đăng ký vào hệ thống.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4175" y="3190875"/>
            <a:ext cx="4629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Thẩm định nội dung tin tuyển dụng trước khi công khai.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4175" y="3533775"/>
            <a:ext cx="4629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Gỡ bỏ tin tuyển dụng rác hoặc có báo cáo vi phạm từ sinh viên.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2638425"/>
            <a:ext cx="104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A580C"/>
                </a:solidFill>
                <a:latin typeface="Inter"/>
              </a:rPr>
              <a:t>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675" y="3209925"/>
            <a:ext cx="104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A580C"/>
                </a:solidFill>
                <a:latin typeface="Inter"/>
              </a:rPr>
              <a:t>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675" y="3781425"/>
            <a:ext cx="104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A580C"/>
                </a:solidFill>
                <a:latin typeface="Inter"/>
              </a:rPr>
              <a:t>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4625" y="2638425"/>
            <a:ext cx="104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A580C"/>
                </a:solidFill>
                <a:latin typeface="Inter"/>
              </a:rPr>
              <a:t>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4625" y="3209925"/>
            <a:ext cx="104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A580C"/>
                </a:solidFill>
                <a:latin typeface="Inter"/>
              </a:rPr>
              <a:t>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4625" y="3552825"/>
            <a:ext cx="1047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EA580C"/>
                </a:solidFill>
                <a:latin typeface="Inter"/>
              </a:rPr>
              <a:t>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" y="438150"/>
            <a:ext cx="116586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Trải nghiệm Quản trị viên: Bảng Điều hành System </a:t>
            </a:r>
            <a:r>
              <a:rPr b="1" sz="2400" i="0" u="none">
                <a:solidFill>
                  <a:srgbClr val="FFFFFF"/>
                </a:solidFill>
                <a:latin typeface="Plus Jakarta Sans"/>
              </a:rPr>
              <a:t>Admin UI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3400" y="933450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429375"/>
            <a:ext cx="11125200" cy="247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675" y="2466975"/>
            <a:ext cx="1390650" cy="352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96700" y="3009900"/>
            <a:ext cx="8798599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3750" i="0" u="none">
                <a:solidFill>
                  <a:srgbClr val="FFFFFF"/>
                </a:solidFill>
                <a:latin typeface="Plus Jakarta Sans ExtraBold"/>
              </a:rPr>
              <a:t>Kiểm thử, Đánh giá &amp; Hướng phát triển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81250" y="3781425"/>
            <a:ext cx="74295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Kết quả kiểm thử thực nghiệm 100%, đánh giá tổng thể và định hướng nâng cấp lứa thuật toán AI tiếp theo.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534150"/>
            <a:ext cx="16668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CBD5E1"/>
                </a:solidFill>
                <a:latin typeface="Inter"/>
              </a:rPr>
              <a:t>Chương 5</a:t>
            </a:r>
            <a:r>
              <a:rPr b="0" sz="900" i="0" u="none">
                <a:solidFill>
                  <a:srgbClr val="64748B"/>
                </a:solidFill>
                <a:latin typeface="Inter"/>
              </a:rPr>
              <a:t>: Kiểm thử &amp; Đánh giá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1375" y="6534150"/>
            <a:ext cx="657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638425"/>
            <a:ext cx="3555950" cy="2362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2638425"/>
            <a:ext cx="3555950" cy="2362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500" y="2638425"/>
            <a:ext cx="3555950" cy="2362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3088" y="2981325"/>
            <a:ext cx="1876425" cy="647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19588" y="2981325"/>
            <a:ext cx="1152525" cy="647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04139" y="2981325"/>
            <a:ext cx="1152525" cy="647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6429375"/>
            <a:ext cx="11125200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6534150"/>
            <a:ext cx="14859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Chương 5</a:t>
            </a:r>
            <a:r>
              <a:rPr b="0" sz="900" i="0" u="none">
                <a:solidFill>
                  <a:srgbClr val="64748B"/>
                </a:solidFill>
                <a:latin typeface="Inter"/>
              </a:rPr>
              <a:t>: Kết quả kiểm thử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1375" y="6534150"/>
            <a:ext cx="657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23 / 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0688" y="3743325"/>
            <a:ext cx="218122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425" i="0" u="none">
                <a:solidFill>
                  <a:srgbClr val="0F172A"/>
                </a:solidFill>
                <a:latin typeface="Inter"/>
              </a:rPr>
              <a:t>16/16 Test Cases Passed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4057650"/>
            <a:ext cx="3003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Kiểm thử hộp đen hoàn hảo mọi kịch bản đăng ký, ứng tuyển, quản lý hồ sơ và gợi ý AI.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90988" y="3743325"/>
            <a:ext cx="1609725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425" i="0" u="none">
                <a:solidFill>
                  <a:srgbClr val="0F172A"/>
                </a:solidFill>
                <a:latin typeface="Inter"/>
              </a:rPr>
              <a:t>Phản hồi API Gợi 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4175" y="4057650"/>
            <a:ext cx="30035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Tốc độ tính toán ma trận TF-IDF &amp; Cosine Similarity tối ưu trên cơ sở dữ liệu thực nghiệm.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27876" y="3743325"/>
            <a:ext cx="2305050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425" i="0" u="none">
                <a:solidFill>
                  <a:srgbClr val="0F172A"/>
                </a:solidFill>
                <a:latin typeface="Inter"/>
              </a:rPr>
              <a:t>Lỗi Gián đoạn Trải nghiệm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8725" y="4057650"/>
            <a:ext cx="3003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125" i="0" u="none">
                <a:solidFill>
                  <a:srgbClr val="64748B"/>
                </a:solidFill>
                <a:latin typeface="Inter"/>
              </a:rPr>
              <a:t>Cơ chế Fallback UI tự động kích hoạt mượt mà khi cưỡng chế ngắt kết nối API giả lập.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438150"/>
            <a:ext cx="116586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Kiểm thử Toàn diện: Hệ thống Sẵn sàng Thực tế </a:t>
            </a:r>
            <a:r>
              <a:rPr b="1" sz="2400" i="0" u="none">
                <a:solidFill>
                  <a:srgbClr val="FFFFFF"/>
                </a:solidFill>
                <a:latin typeface="Plus Jakarta Sans"/>
              </a:rPr>
              <a:t>Test Results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3400" y="933450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3190875"/>
            <a:ext cx="476250" cy="476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5315" y="3190875"/>
            <a:ext cx="476250" cy="47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9105" y="3190875"/>
            <a:ext cx="476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2952750"/>
            <a:ext cx="3337470" cy="2019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7190" y="2952750"/>
            <a:ext cx="3337470" cy="20193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0980" y="2952750"/>
            <a:ext cx="3337470" cy="20193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400" y="6429375"/>
            <a:ext cx="11125200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6534150"/>
            <a:ext cx="15335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F172A"/>
                </a:solidFill>
                <a:latin typeface="Inter"/>
              </a:rPr>
              <a:t>Chương 5</a:t>
            </a:r>
            <a:r>
              <a:rPr b="0" sz="900" i="0" u="none">
                <a:solidFill>
                  <a:srgbClr val="64748B"/>
                </a:solidFill>
                <a:latin typeface="Inter"/>
              </a:rPr>
              <a:t>: Lộ trình phát triển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91850" y="6534150"/>
            <a:ext cx="6667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24 / 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9564" y="3933825"/>
            <a:ext cx="10012870" cy="5715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1525" y="3838575"/>
            <a:ext cx="300428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1. Nâng cấp Lõi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4133850"/>
            <a:ext cx="286122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Chuyển từ TF-IDF sang các mô hình Word/Sentence Embedding hiện đại để AI hiểu từ đồng nghĩa tiếng Việt.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5315" y="3838575"/>
            <a:ext cx="300428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2. Chuẩn hóa Dữ liệu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5315" y="4133850"/>
            <a:ext cx="286122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Áp đặt danh mục kỹ năng cốt lõi bắt buộc thay vì nhập liệu tự do, tối đa hóa độ chính xác của lọc Tri thức.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59105" y="3838575"/>
            <a:ext cx="3004281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3. Đo lường Định lượng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9105" y="4133850"/>
            <a:ext cx="286122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Triển khai trên tập dữ liệu lớn và đánh giá khắt khe chất lượng thuật toán bằng các chỉ số khoa học MAP &amp; NDCG.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38150"/>
            <a:ext cx="11658600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0" sz="2400" i="0" u="none">
                <a:solidFill>
                  <a:srgbClr val="0F172A"/>
                </a:solidFill>
                <a:latin typeface="Plus Jakarta Sans ExtraBold"/>
              </a:rPr>
              <a:t>Lộ trình Tiến hóa: Thấu hiểu Ngữ nghĩa Tuyệt đối </a:t>
            </a:r>
            <a:r>
              <a:rPr b="1" sz="2400" i="0" u="none">
                <a:solidFill>
                  <a:srgbClr val="FFFFFF"/>
                </a:solidFill>
                <a:latin typeface="Plus Jakarta Sans"/>
              </a:rPr>
              <a:t>Roadmap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3400" y="933450"/>
            <a:ext cx="111252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0487" y="4451895"/>
            <a:ext cx="4391025" cy="485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6429375"/>
            <a:ext cx="1112520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1920329"/>
            <a:ext cx="762000" cy="76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58486" y="2910929"/>
            <a:ext cx="10274877" cy="504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3150" i="0" u="none">
                <a:solidFill>
                  <a:srgbClr val="FFFFFF"/>
                </a:solidFill>
                <a:latin typeface="Plus Jakarta Sans ExtraBold"/>
              </a:rPr>
              <a:t>Biến tiếng ồn thị trường thành những kết nối hoàn hảo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47875" y="3568154"/>
            <a:ext cx="8096250" cy="578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b="0" sz="1425" i="0" u="none">
                <a:solidFill>
                  <a:srgbClr val="94A3B8"/>
                </a:solidFill>
                <a:latin typeface="Inter"/>
              </a:rPr>
              <a:t>Hệ sinh thái Trí tuệ Nhân tạo giải quyết triệt để sự bất đối xứng thông tin — kết nối trực tiếp cung và cầu lao động trẻ bằng sự minh bạch, tốc độ và tính cá nhân hóa tuyệt đối.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6534150"/>
            <a:ext cx="18954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CBD5E1"/>
                </a:solidFill>
                <a:latin typeface="Inter"/>
              </a:rPr>
              <a:t>Kết thúc bài trình bày</a:t>
            </a:r>
            <a:r>
              <a:rPr b="0" sz="900" i="0" u="none">
                <a:solidFill>
                  <a:srgbClr val="64748B"/>
                </a:solidFill>
                <a:latin typeface="Inter"/>
              </a:rPr>
              <a:t> | CTUT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1375" y="6534150"/>
            <a:ext cx="6572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Inter"/>
              </a:rPr>
              <a:t>Slide 25 / 25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5025" y="2120354"/>
            <a:ext cx="361950" cy="3619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